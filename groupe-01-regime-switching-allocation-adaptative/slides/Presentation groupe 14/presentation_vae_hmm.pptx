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300" y="-4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585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1A6B9A">
              <a:alpha val="18000"/>
            </a:srgbClr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7498080" y="0"/>
            <a:ext cx="1645920" cy="5143500"/>
          </a:xfrm>
          <a:prstGeom prst="rect">
            <a:avLst/>
          </a:prstGeom>
          <a:solidFill>
            <a:srgbClr val="1A6B9A">
              <a:alpha val="32000"/>
            </a:srgbClr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320040" y="475488"/>
            <a:ext cx="2377440" cy="274320"/>
          </a:xfrm>
          <a:prstGeom prst="rect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20040" y="4754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IA ING4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320040" y="914400"/>
            <a:ext cx="62179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REGIME</a:t>
            </a:r>
            <a:endParaRPr lang="en-US" sz="4800" dirty="0"/>
          </a:p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20040" y="2670048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VAE-HMM Adaptive Portfolio Allocation Pipeline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20040" y="3273552"/>
            <a:ext cx="1371600" cy="256032"/>
          </a:xfrm>
          <a:prstGeom prst="rect">
            <a:avLst/>
          </a:prstGeom>
          <a:solidFill>
            <a:srgbClr val="1C2833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20040" y="32735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2007 – 2025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783080" y="3273552"/>
            <a:ext cx="2286000" cy="256032"/>
          </a:xfrm>
          <a:prstGeom prst="rect">
            <a:avLst/>
          </a:prstGeom>
          <a:solidFill>
            <a:srgbClr val="1C2833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1783080" y="3273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SPY · TLT · GLD · ^VIX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160520" y="3273552"/>
            <a:ext cx="1828800" cy="256032"/>
          </a:xfrm>
          <a:prstGeom prst="rect">
            <a:avLst/>
          </a:prstGeom>
          <a:solidFill>
            <a:srgbClr val="1C2833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160520" y="32735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Features  |  8D Latent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0040" y="3712464"/>
            <a:ext cx="6858000" cy="0"/>
          </a:xfrm>
          <a:prstGeom prst="line">
            <a:avLst/>
          </a:prstGeom>
          <a:noFill/>
          <a:ln w="635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320040" y="4027931"/>
            <a:ext cx="2377440" cy="11155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MAISONNAVE Gabriel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COUVERT Raphaël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DE GASQUET Aurèle</a:t>
            </a:r>
          </a:p>
          <a:p>
            <a:pPr marL="0" indent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0" cy="51435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0" y="164592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0" y="25603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sections  ~20 min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108960" y="347472"/>
            <a:ext cx="365760" cy="40233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108960" y="34747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511296" y="347472"/>
            <a:ext cx="53035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639312" y="347472"/>
            <a:ext cx="5102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Problématique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108960" y="1005840"/>
            <a:ext cx="365760" cy="402336"/>
          </a:xfrm>
          <a:prstGeom prst="rect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108960" y="100584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511296" y="1005840"/>
            <a:ext cx="53035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639312" y="1005840"/>
            <a:ext cx="5102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&amp; Feature Engineering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108960" y="1664208"/>
            <a:ext cx="365760" cy="402336"/>
          </a:xfrm>
          <a:prstGeom prst="rect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3108960" y="166420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11296" y="1664208"/>
            <a:ext cx="53035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3639312" y="1664208"/>
            <a:ext cx="5102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Méthodologique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108960" y="2322576"/>
            <a:ext cx="365760" cy="402336"/>
          </a:xfrm>
          <a:prstGeom prst="rect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3108960" y="2322576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511296" y="2322576"/>
            <a:ext cx="53035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3639312" y="2322576"/>
            <a:ext cx="5102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Technique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108960" y="2980944"/>
            <a:ext cx="365760" cy="402336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3108960" y="2980944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511296" y="2980944"/>
            <a:ext cx="53035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3639312" y="2980944"/>
            <a:ext cx="5102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&amp; KPIs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108960" y="3639312"/>
            <a:ext cx="365760" cy="402336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3108960" y="363931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511296" y="3639312"/>
            <a:ext cx="53035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3639312" y="3639312"/>
            <a:ext cx="5102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&amp; Next Steps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108960" y="4297680"/>
            <a:ext cx="365760" cy="402336"/>
          </a:xfrm>
          <a:prstGeom prst="rect">
            <a:avLst/>
          </a:prstGeom>
          <a:solidFill>
            <a:srgbClr val="1C2833"/>
          </a:solidFill>
          <a:ln w="12700">
            <a:solidFill>
              <a:srgbClr val="1C28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3108960" y="429768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11296" y="4297680"/>
            <a:ext cx="53035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3639312" y="4297680"/>
            <a:ext cx="5102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— Questions anticipées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274320" y="492861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VAE-HMM Pipeline  |  Market Regime Detection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046720" y="4928616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28600"/>
            <a:ext cx="1554480" cy="256032"/>
          </a:xfrm>
          <a:prstGeom prst="roundRect">
            <a:avLst>
              <a:gd name="adj" fmla="val 28571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2286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CONTEXTE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20040" y="530352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Business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115568"/>
            <a:ext cx="8503920" cy="98755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20040" y="1115568"/>
            <a:ext cx="91440" cy="9875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30352" y="1152144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 gérant passif a subi −24.5% en 2022 sans aucun signal pour réduire le risque.</a:t>
            </a:r>
            <a:endParaRPr lang="en-US" sz="1350" dirty="0"/>
          </a:p>
          <a:p>
            <a:pPr marL="0" indent="0"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question : peut-on détecter le régime de marché en temps réel pour adapter l'allocation ?"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20040" y="2286000"/>
            <a:ext cx="27432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320040" y="2286000"/>
            <a:ext cx="2743200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20040" y="22860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256032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Régimes latents —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observables directement.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27832" y="2286000"/>
            <a:ext cx="27432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354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3227832" y="2286000"/>
            <a:ext cx="2743200" cy="237744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3227832" y="22860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ASYMÉTRIE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19272" y="256032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 markets : des années.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: quelques semaines.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35624" y="2286000"/>
            <a:ext cx="27432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9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6135624" y="2286000"/>
            <a:ext cx="2743200" cy="237744"/>
          </a:xfrm>
          <a:prstGeom prst="rect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6135624" y="22860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CAUSALITÉ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227064" y="256032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doit être causal —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look-ahead bias.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solidFill>
            <a:srgbClr val="D5F5E3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57200" y="3566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APPROCHE : LSTM-VAE (compression 64→8D) → HMM (détection régimes) → Forward Filtering (causalité garantie)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274320" y="492861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VAE-HMM Pipeline  |  Market Regime Detection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046720" y="4928616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28600"/>
            <a:ext cx="1554480" cy="256032"/>
          </a:xfrm>
          <a:prstGeom prst="roundRect">
            <a:avLst>
              <a:gd name="adj" fmla="val 28571"/>
            </a:avLst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2286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DONNÉES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20040" y="530352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&amp; Feature Engineering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3931920" cy="3401568"/>
          </a:xfrm>
          <a:prstGeom prst="rect">
            <a:avLst/>
          </a:prstGeom>
          <a:solidFill>
            <a:srgbClr val="FFFFFF"/>
          </a:solidFill>
          <a:ln w="10160">
            <a:solidFill>
              <a:srgbClr val="B8D4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3931920" cy="274320"/>
          </a:xfrm>
          <a:prstGeom prst="rect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 — 2007 → 2025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02920" y="1463040"/>
            <a:ext cx="594360" cy="301752"/>
          </a:xfrm>
          <a:prstGeom prst="rect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502920" y="1463040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170432" y="1490472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 — benchmark equity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1883664"/>
            <a:ext cx="594360" cy="30175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02920" y="1883664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70432" y="191109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Treasuries 20 ans — risk-off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2304288"/>
            <a:ext cx="594360" cy="3017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502920" y="2304288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70432" y="233172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— hedge inflation / crise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2724912"/>
            <a:ext cx="594360" cy="3017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02920" y="2724912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^VIX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70432" y="2752344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de peur — vol implicite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02920" y="318211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TEMPOREL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02920" y="3401568"/>
            <a:ext cx="1664208" cy="566928"/>
          </a:xfrm>
          <a:prstGeom prst="rect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502920" y="340156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 58%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02920" y="367588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2007–2018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~2 700j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203704" y="3401568"/>
            <a:ext cx="457200" cy="566928"/>
          </a:xfrm>
          <a:prstGeom prst="rect">
            <a:avLst/>
          </a:prstGeom>
          <a:solidFill>
            <a:srgbClr val="95A5A6"/>
          </a:solidFill>
          <a:ln w="12700">
            <a:solidFill>
              <a:srgbClr val="95A5A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2203704" y="34015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 6%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203704" y="36758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2018–2019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~278j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697480" y="3401568"/>
            <a:ext cx="1664208" cy="566928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2697480" y="340156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 36%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697480" y="367588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2019–2025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~1 673j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434840" y="1097280"/>
            <a:ext cx="4389120" cy="3401568"/>
          </a:xfrm>
          <a:prstGeom prst="rect">
            <a:avLst/>
          </a:prstGeom>
          <a:solidFill>
            <a:srgbClr val="FFFFFF"/>
          </a:solidFill>
          <a:ln w="10160">
            <a:solidFill>
              <a:srgbClr val="B8D4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4434840" y="1097280"/>
            <a:ext cx="4389120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4434840" y="10972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FEATURES — 13 FAMILLES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0" y="1463040"/>
            <a:ext cx="164592" cy="201168"/>
          </a:xfrm>
          <a:prstGeom prst="rect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4800600" y="14630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Log-rendements multi-horizons (1j, 5j, 21j)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0" y="1783080"/>
            <a:ext cx="164592" cy="201168"/>
          </a:xfrm>
          <a:prstGeom prst="rect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4800600" y="17830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Volatilité réalisée glissante (5j, 21j, 63j)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0" y="2103120"/>
            <a:ext cx="164592" cy="201168"/>
          </a:xfrm>
          <a:prstGeom prst="rect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4800600" y="21031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Moments d'ordre supérieur (skewness, kurtosis)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2423160"/>
            <a:ext cx="164592" cy="201168"/>
          </a:xfrm>
          <a:prstGeom prst="rect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4800600" y="24231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· Bollinger Bands · MACD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0" y="2743200"/>
            <a:ext cx="164592" cy="201168"/>
          </a:xfrm>
          <a:prstGeom prst="rect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4800600" y="27432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de volatilité (niveau relatif)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3063240"/>
            <a:ext cx="164592" cy="201168"/>
          </a:xfrm>
          <a:prstGeom prst="rect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4800600" y="30632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Drawdown courant — proxy stress marché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383280"/>
            <a:ext cx="164592" cy="201168"/>
          </a:xfrm>
          <a:prstGeom prst="rect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4"/>
          <p:cNvSpPr/>
          <p:nvPr/>
        </p:nvSpPr>
        <p:spPr>
          <a:xfrm>
            <a:off x="4800600" y="33832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Autocorrélation des rendements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03320"/>
            <a:ext cx="164592" cy="201168"/>
          </a:xfrm>
          <a:prstGeom prst="rect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Text 46"/>
          <p:cNvSpPr/>
          <p:nvPr/>
        </p:nvSpPr>
        <p:spPr>
          <a:xfrm>
            <a:off x="4800600" y="37033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Corrélations glissantes inter-actifs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023360"/>
            <a:ext cx="164592" cy="201168"/>
          </a:xfrm>
          <a:prstGeom prst="rect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4800600" y="40233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vol court/long + tendance EMA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434840" y="4416552"/>
            <a:ext cx="4389120" cy="384048"/>
          </a:xfrm>
          <a:prstGeom prst="rect">
            <a:avLst/>
          </a:prstGeom>
          <a:solidFill>
            <a:srgbClr val="D5F5E3"/>
          </a:solidFill>
          <a:ln w="1016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2" name="Text 50"/>
          <p:cNvSpPr/>
          <p:nvPr/>
        </p:nvSpPr>
        <p:spPr>
          <a:xfrm>
            <a:off x="4572000" y="443484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Scaler fitté train only · Séquences 30j · Forward filtering causal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Text 52"/>
          <p:cNvSpPr/>
          <p:nvPr/>
        </p:nvSpPr>
        <p:spPr>
          <a:xfrm>
            <a:off x="274320" y="492861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VAE-HMM Pipeline  |  Market Regime Detection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046720" y="4928616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28600"/>
            <a:ext cx="1554480" cy="256032"/>
          </a:xfrm>
          <a:prstGeom prst="roundRect">
            <a:avLst>
              <a:gd name="adj" fmla="val 28571"/>
            </a:avLst>
          </a:prstGeom>
          <a:solidFill>
            <a:srgbClr val="1C2833"/>
          </a:solidFill>
          <a:ln w="12700">
            <a:solidFill>
              <a:srgbClr val="1C28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2286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MÉTHODE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20040" y="530352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VAE-HMM 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115568"/>
            <a:ext cx="292608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65760" y="1115568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Approche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1840" y="1115568"/>
            <a:ext cx="228600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337560" y="111556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Avantage principal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23560" y="1115568"/>
            <a:ext cx="320040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5669280" y="111556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Raison d'exclusion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1463040"/>
            <a:ext cx="29260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93192" y="1463040"/>
            <a:ext cx="2816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HMM direct (64 features)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1463040"/>
            <a:ext cx="2286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3364992" y="1463040"/>
            <a:ext cx="2176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interprétable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23560" y="1463040"/>
            <a:ext cx="32004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696712" y="1463040"/>
            <a:ext cx="3090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Curse of dimensionality — 64D trop bruité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1865376"/>
            <a:ext cx="292608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393192" y="1865376"/>
            <a:ext cx="2816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Hamilton MS (baseline)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1865376"/>
            <a:ext cx="228600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3364992" y="1865376"/>
            <a:ext cx="2176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Fondement économétrique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23560" y="1865376"/>
            <a:ext cx="320040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5696712" y="1865376"/>
            <a:ext cx="3090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série AR uniquement, pas de cross-assets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2267712"/>
            <a:ext cx="29260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393192" y="2267712"/>
            <a:ext cx="2816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/ GMM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2267712"/>
            <a:ext cx="2286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3364992" y="2267712"/>
            <a:ext cx="2176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paramétrique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23560" y="2267712"/>
            <a:ext cx="32004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5696712" y="2267712"/>
            <a:ext cx="3090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structure temporelle des transitions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0040" y="2670048"/>
            <a:ext cx="292608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393192" y="2670048"/>
            <a:ext cx="2816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supervisé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91840" y="2670048"/>
            <a:ext cx="228600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3364992" y="2670048"/>
            <a:ext cx="2176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 précision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23560" y="2670048"/>
            <a:ext cx="320040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5696712" y="2670048"/>
            <a:ext cx="3090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Nécessite des labels — problème non supervisé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20040" y="3072384"/>
            <a:ext cx="2926080" cy="384048"/>
          </a:xfrm>
          <a:prstGeom prst="rect">
            <a:avLst/>
          </a:prstGeom>
          <a:solidFill>
            <a:srgbClr val="D5F5E3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393192" y="3072384"/>
            <a:ext cx="2816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VAE-HMM (retenu)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91840" y="3072384"/>
            <a:ext cx="2286000" cy="384048"/>
          </a:xfrm>
          <a:prstGeom prst="rect">
            <a:avLst/>
          </a:prstGeom>
          <a:solidFill>
            <a:srgbClr val="D5F5E3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3364992" y="3072384"/>
            <a:ext cx="2176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 64→8D + dynamique temporelle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23560" y="3072384"/>
            <a:ext cx="3200400" cy="384048"/>
          </a:xfrm>
          <a:prstGeom prst="rect">
            <a:avLst/>
          </a:prstGeom>
          <a:solidFill>
            <a:srgbClr val="D5F5E3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5696712" y="3072384"/>
            <a:ext cx="3090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040" y="3547872"/>
            <a:ext cx="8503920" cy="74980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2" name="Shape 40"/>
          <p:cNvSpPr/>
          <p:nvPr/>
        </p:nvSpPr>
        <p:spPr>
          <a:xfrm>
            <a:off x="320040" y="3547872"/>
            <a:ext cx="91440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Text 41"/>
          <p:cNvSpPr/>
          <p:nvPr/>
        </p:nvSpPr>
        <p:spPr>
          <a:xfrm>
            <a:off x="502920" y="3584448"/>
            <a:ext cx="82296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clé : </a:t>
            </a:r>
            <a:r>
              <a:rPr lang="en-US" sz="11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 variationnelle (z ~ N(0,I)) force un espace latent continu. Les transitions entre régimes deviennent des trajectoires lisses — exactement ce dont le HMM a besoin. Sans VAE convergé, le HMM clusterise du bruit et produit des régimes inversés.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/>
          <p:nvPr/>
        </p:nvSpPr>
        <p:spPr>
          <a:xfrm>
            <a:off x="274320" y="492861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VAE-HMM Pipeline  |  Market Regime Detection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8046720" y="4928616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28600"/>
            <a:ext cx="1554480" cy="256032"/>
          </a:xfrm>
          <a:prstGeom prst="roundRect">
            <a:avLst>
              <a:gd name="adj" fmla="val 28571"/>
            </a:avLst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2286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ARCHITECTURE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20040" y="530352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VAE-HMM — 5 Étapes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170432"/>
            <a:ext cx="1627632" cy="2331720"/>
          </a:xfrm>
          <a:prstGeom prst="rect">
            <a:avLst/>
          </a:prstGeom>
          <a:solidFill>
            <a:srgbClr val="162535"/>
          </a:solidFill>
          <a:ln w="19050">
            <a:solidFill>
              <a:srgbClr val="1A6B9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201168" y="1170432"/>
            <a:ext cx="1627632" cy="73152"/>
          </a:xfrm>
          <a:prstGeom prst="rect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786384" y="1298448"/>
            <a:ext cx="457200" cy="457200"/>
          </a:xfrm>
          <a:prstGeom prst="ellipse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786384" y="1298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01168" y="182880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6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A6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" y="2377440"/>
            <a:ext cx="148132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yfinance → 64 features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RobustScaler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seq(30, 64)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828800" y="210312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975104" y="1170432"/>
            <a:ext cx="1627632" cy="2331720"/>
          </a:xfrm>
          <a:prstGeom prst="rect">
            <a:avLst/>
          </a:prstGeom>
          <a:solidFill>
            <a:srgbClr val="162535"/>
          </a:solidFill>
          <a:ln w="19050">
            <a:solidFill>
              <a:srgbClr val="1A6B9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1975104" y="1170432"/>
            <a:ext cx="1627632" cy="73152"/>
          </a:xfrm>
          <a:prstGeom prst="rect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2560320" y="1298448"/>
            <a:ext cx="457200" cy="457200"/>
          </a:xfrm>
          <a:prstGeom prst="ellipse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560320" y="1298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975104" y="182880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6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A6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48256" y="2377440"/>
            <a:ext cx="148132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Encodeur LSTM bidir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Attention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 ∈ ℝ⁸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02736" y="210312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749040" y="1170432"/>
            <a:ext cx="1627632" cy="2331720"/>
          </a:xfrm>
          <a:prstGeom prst="rect">
            <a:avLst/>
          </a:prstGeom>
          <a:solidFill>
            <a:srgbClr val="162535"/>
          </a:solidFill>
          <a:ln w="19050">
            <a:solidFill>
              <a:srgbClr val="1A6B9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3749040" y="1170432"/>
            <a:ext cx="1627632" cy="73152"/>
          </a:xfrm>
          <a:prstGeom prst="rect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4334256" y="1298448"/>
            <a:ext cx="457200" cy="457200"/>
          </a:xfrm>
          <a:prstGeom prst="ellipse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4334256" y="1298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749040" y="182880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6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A6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822192" y="2377440"/>
            <a:ext cx="148132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GaussianHMM K=2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cov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régimes ordonnés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76672" y="210312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522976" y="1170432"/>
            <a:ext cx="1627632" cy="2331720"/>
          </a:xfrm>
          <a:prstGeom prst="rect">
            <a:avLst/>
          </a:prstGeom>
          <a:solidFill>
            <a:srgbClr val="162535"/>
          </a:solidFill>
          <a:ln w="19050">
            <a:solidFill>
              <a:srgbClr val="1E844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5522976" y="1170432"/>
            <a:ext cx="1627632" cy="7315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6108192" y="1298448"/>
            <a:ext cx="457200" cy="45720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6108192" y="1298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522976" y="182880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596128" y="2377440"/>
            <a:ext cx="148132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filtering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soft allocation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frais 10bps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150608" y="210312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296912" y="1170432"/>
            <a:ext cx="1627632" cy="2331720"/>
          </a:xfrm>
          <a:prstGeom prst="rect">
            <a:avLst/>
          </a:prstGeom>
          <a:solidFill>
            <a:srgbClr val="162535"/>
          </a:solidFill>
          <a:ln w="19050">
            <a:solidFill>
              <a:srgbClr val="F39C1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4" name="Shape 32"/>
          <p:cNvSpPr/>
          <p:nvPr/>
        </p:nvSpPr>
        <p:spPr>
          <a:xfrm>
            <a:off x="7296912" y="1170432"/>
            <a:ext cx="1627632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3"/>
          <p:cNvSpPr/>
          <p:nvPr/>
        </p:nvSpPr>
        <p:spPr>
          <a:xfrm>
            <a:off x="7882128" y="1298448"/>
            <a:ext cx="457200" cy="45720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7882128" y="1298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296912" y="182880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370064" y="2377440"/>
            <a:ext cx="148132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Jobson-Korkie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· Sharpe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MDD · Sortino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0040" y="3657600"/>
            <a:ext cx="8503920" cy="1005840"/>
          </a:xfrm>
          <a:prstGeom prst="rect">
            <a:avLst/>
          </a:prstGeom>
          <a:solidFill>
            <a:srgbClr val="162535"/>
          </a:solidFill>
          <a:ln w="1016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502920" y="369417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 CRITIQUES APPORTÉES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11480" y="3931920"/>
            <a:ext cx="164592" cy="16459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612648" y="3904488"/>
            <a:ext cx="140817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LSTM bidir corrigé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075688" y="3931920"/>
            <a:ext cx="164592" cy="16459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2276856" y="3904488"/>
            <a:ext cx="140817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sur val_recon (pas val_ELBO)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739896" y="3931920"/>
            <a:ext cx="164592" cy="16459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4"/>
          <p:cNvSpPr/>
          <p:nvPr/>
        </p:nvSpPr>
        <p:spPr>
          <a:xfrm>
            <a:off x="3941064" y="3904488"/>
            <a:ext cx="140817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 ES pendant KL warmup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404104" y="3931920"/>
            <a:ext cx="164592" cy="16459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Text 46"/>
          <p:cNvSpPr/>
          <p:nvPr/>
        </p:nvSpPr>
        <p:spPr>
          <a:xfrm>
            <a:off x="5605272" y="3904488"/>
            <a:ext cx="140817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post-warmup uniquement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7068312" y="3931920"/>
            <a:ext cx="164592" cy="16459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7269480" y="3904488"/>
            <a:ext cx="140817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Attention Pooling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2" name="Text 50"/>
          <p:cNvSpPr/>
          <p:nvPr/>
        </p:nvSpPr>
        <p:spPr>
          <a:xfrm>
            <a:off x="274320" y="492861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VAE-HMM Pipeline  |  Market Regime Detection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8046720" y="4928616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28600"/>
            <a:ext cx="1554480" cy="256032"/>
          </a:xfrm>
          <a:prstGeom prst="roundRect">
            <a:avLst>
              <a:gd name="adj" fmla="val 28571"/>
            </a:avLst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2286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ARCHITECTURE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20040" y="530352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Entraînement du LSTM-VAE</a:t>
            </a:r>
            <a:endParaRPr lang="en-US" sz="2600" dirty="0"/>
          </a:p>
        </p:txBody>
      </p:sp>
      <p:pic>
        <p:nvPicPr>
          <p:cNvPr id="5" name="Image 0" descr="/home/claude/src_pres/src/results/figures/09_training_histor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1024128"/>
            <a:ext cx="8595360" cy="2697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3913632"/>
            <a:ext cx="1874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57200" y="398678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6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457200" y="45079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best_epoch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560320" y="3913632"/>
            <a:ext cx="1874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2560320" y="398678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6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0.454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2560320" y="45079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val_recon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663440" y="3913632"/>
            <a:ext cx="1874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4663440" y="398678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663440" y="45079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val_kl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766560" y="3913632"/>
            <a:ext cx="1874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766560" y="398678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6766560" y="45079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β_end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6"/>
          <p:cNvSpPr/>
          <p:nvPr/>
        </p:nvSpPr>
        <p:spPr>
          <a:xfrm>
            <a:off x="274320" y="492861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VAE-HMM Pipeline  |  Market Regime Detection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046720" y="4928616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28600"/>
            <a:ext cx="1554480" cy="256032"/>
          </a:xfrm>
          <a:prstGeom prst="roundRect">
            <a:avLst>
              <a:gd name="adj" fmla="val 28571"/>
            </a:avLst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2286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ARCHITECTURE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20040" y="530352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Latent &amp; Matrice de Transition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40233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20040" y="1078992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Latent VAE — PCA 2D (PC1=46.7%)</a:t>
            </a:r>
            <a:endParaRPr lang="en-US" sz="900" dirty="0"/>
          </a:p>
        </p:txBody>
      </p:sp>
      <p:pic>
        <p:nvPicPr>
          <p:cNvPr id="7" name="Image 0" descr="/home/claude/src_pres/src/results/figures/08_latent_spac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1353312"/>
            <a:ext cx="384048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26280" y="1051560"/>
            <a:ext cx="4297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4526280" y="1078992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de Transition HMM</a:t>
            </a:r>
            <a:endParaRPr lang="en-US" sz="900" dirty="0"/>
          </a:p>
        </p:txBody>
      </p:sp>
      <p:pic>
        <p:nvPicPr>
          <p:cNvPr id="10" name="Image 1" descr="/home/claude/src_pres/src/results/figures/03_transition_matrix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17720" y="1371600"/>
            <a:ext cx="2560320" cy="19202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269480" y="1417320"/>
            <a:ext cx="1463040" cy="621792"/>
          </a:xfrm>
          <a:prstGeom prst="rect">
            <a:avLst/>
          </a:prstGeom>
          <a:solidFill>
            <a:srgbClr val="F4F6F8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8"/>
          <p:cNvSpPr/>
          <p:nvPr/>
        </p:nvSpPr>
        <p:spPr>
          <a:xfrm>
            <a:off x="7315200" y="144475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R0→R0 = 0.979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7315200" y="170078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 espérée Bear : ~47j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7269480" y="2130552"/>
            <a:ext cx="1463040" cy="621792"/>
          </a:xfrm>
          <a:prstGeom prst="rect">
            <a:avLst/>
          </a:prstGeom>
          <a:solidFill>
            <a:srgbClr val="F4F6F8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7315200" y="215798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R1→R1 = 0.997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7315200" y="24140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 espérée Bull : ~333j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7269480" y="2843784"/>
            <a:ext cx="1463040" cy="621792"/>
          </a:xfrm>
          <a:prstGeom prst="rect">
            <a:avLst/>
          </a:prstGeom>
          <a:solidFill>
            <a:srgbClr val="F4F6F8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4"/>
          <p:cNvSpPr/>
          <p:nvPr/>
        </p:nvSpPr>
        <p:spPr>
          <a:xfrm>
            <a:off x="7315200" y="28712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6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Vit./Causal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7315200" y="312724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98.7% — zéro look-ahead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526280" y="3429000"/>
            <a:ext cx="4297680" cy="914400"/>
          </a:xfrm>
          <a:prstGeom prst="rect">
            <a:avLst/>
          </a:prstGeom>
          <a:solidFill>
            <a:srgbClr val="FFF9E7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7"/>
          <p:cNvSpPr/>
          <p:nvPr/>
        </p:nvSpPr>
        <p:spPr>
          <a:xfrm>
            <a:off x="4617720" y="3465576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: </a:t>
            </a: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persistant (sticky). Avantage : pas de whipsaw. Inconvénient : retard ~3 mois en début de bear market.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19"/>
          <p:cNvSpPr/>
          <p:nvPr/>
        </p:nvSpPr>
        <p:spPr>
          <a:xfrm>
            <a:off x="274320" y="492861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VAE-HMM Pipeline  |  Market Regime Detection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8046720" y="4928616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28600"/>
            <a:ext cx="1554480" cy="256032"/>
          </a:xfrm>
          <a:prstGeom prst="roundRect">
            <a:avLst>
              <a:gd name="adj" fmla="val 28571"/>
            </a:avLst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2286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RÉSULTATS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20040" y="530352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Régimes Détectés — SPY 2019→2025</a:t>
            </a:r>
            <a:endParaRPr lang="en-US" sz="2600" dirty="0"/>
          </a:p>
        </p:txBody>
      </p:sp>
      <p:pic>
        <p:nvPicPr>
          <p:cNvPr id="5" name="Image 0" descr="/home/claude/src_pres/src/results/figures/01_regimes_on_pric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1024128"/>
            <a:ext cx="8595360" cy="33649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20040" y="4498848"/>
            <a:ext cx="201168" cy="2011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566928" y="448056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 / Haute Volatilité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20440" y="4498848"/>
            <a:ext cx="201168" cy="201168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3767328" y="448056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 / Basse Volatilité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20040" y="4736592"/>
            <a:ext cx="8503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Flash Crash 2020 capté  ·  Bear 2022 identifié (retard ~3 mois)  ·  Bull 2023–2024 reconnu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274320" y="492861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VAE-HMM Pipeline  |  Market Regime Detection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8046720" y="4928616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28600"/>
            <a:ext cx="1554480" cy="256032"/>
          </a:xfrm>
          <a:prstGeom prst="roundRect">
            <a:avLst>
              <a:gd name="adj" fmla="val 28571"/>
            </a:avLst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2286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RÉSULTATS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20040" y="530352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Curves — VAE-HMM vs Buy &amp; Hold</a:t>
            </a:r>
            <a:endParaRPr lang="en-US" sz="2600" dirty="0"/>
          </a:p>
        </p:txBody>
      </p:sp>
      <p:pic>
        <p:nvPicPr>
          <p:cNvPr id="5" name="Image 0" descr="/home/claude/src_pres/src/results/figures/02_equity_curve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1024128"/>
            <a:ext cx="8595360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274320" y="492861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VAE-HMM Pipeline  |  Market Regime Detection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046720" y="4928616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28600"/>
            <a:ext cx="1554480" cy="256032"/>
          </a:xfrm>
          <a:prstGeom prst="roundRect">
            <a:avLst>
              <a:gd name="adj" fmla="val 28571"/>
            </a:avLst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2286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RÉSULTATS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20040" y="530352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Performance — KPIs Clés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115568"/>
            <a:ext cx="237744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11155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834640" y="1115568"/>
            <a:ext cx="192024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880360" y="111556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VAE-HMM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00600" y="1115568"/>
            <a:ext cx="192024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846320" y="111556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&amp; Hold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766560" y="1115568"/>
            <a:ext cx="1920240" cy="320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6812280" y="111556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Hamilton MS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1480" y="1463040"/>
            <a:ext cx="23774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84632" y="1463040"/>
            <a:ext cx="22677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834640" y="1463040"/>
            <a:ext cx="19202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2907792" y="1463040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1463040"/>
            <a:ext cx="19202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873752" y="1463040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66560" y="1463040"/>
            <a:ext cx="19202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839712" y="1463040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11480" y="1819656"/>
            <a:ext cx="2377440" cy="338328"/>
          </a:xfrm>
          <a:prstGeom prst="rect">
            <a:avLst/>
          </a:prstGeom>
          <a:solidFill>
            <a:srgbClr val="EDF2F7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484632" y="1819656"/>
            <a:ext cx="22677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834640" y="1819656"/>
            <a:ext cx="1920240" cy="338328"/>
          </a:xfrm>
          <a:prstGeom prst="rect">
            <a:avLst/>
          </a:prstGeom>
          <a:solidFill>
            <a:srgbClr val="EDF2F7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2907792" y="1819656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00600" y="1819656"/>
            <a:ext cx="1920240" cy="338328"/>
          </a:xfrm>
          <a:prstGeom prst="rect">
            <a:avLst/>
          </a:prstGeom>
          <a:solidFill>
            <a:srgbClr val="EDF2F7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873752" y="1819656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15.8%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766560" y="1819656"/>
            <a:ext cx="1920240" cy="338328"/>
          </a:xfrm>
          <a:prstGeom prst="rect">
            <a:avLst/>
          </a:prstGeom>
          <a:solidFill>
            <a:srgbClr val="EDF2F7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6839712" y="1819656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11480" y="2176272"/>
            <a:ext cx="23774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484632" y="2176272"/>
            <a:ext cx="22677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Drawdown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834640" y="2176272"/>
            <a:ext cx="1920240" cy="338328"/>
          </a:xfrm>
          <a:prstGeom prst="rect">
            <a:avLst/>
          </a:prstGeom>
          <a:solidFill>
            <a:srgbClr val="D5F5E3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2907792" y="2176272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−26.0%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00600" y="2176272"/>
            <a:ext cx="19202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4873752" y="2176272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−33.7%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766560" y="2176272"/>
            <a:ext cx="19202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6839712" y="2176272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11480" y="2532888"/>
            <a:ext cx="2377440" cy="338328"/>
          </a:xfrm>
          <a:prstGeom prst="rect">
            <a:avLst/>
          </a:prstGeom>
          <a:solidFill>
            <a:srgbClr val="EDF2F7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484632" y="2532888"/>
            <a:ext cx="22677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Sortino Ratio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834640" y="2532888"/>
            <a:ext cx="1920240" cy="338328"/>
          </a:xfrm>
          <a:prstGeom prst="rect">
            <a:avLst/>
          </a:prstGeom>
          <a:solidFill>
            <a:srgbClr val="EDF2F7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2907792" y="2532888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0.37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800600" y="2532888"/>
            <a:ext cx="1920240" cy="338328"/>
          </a:xfrm>
          <a:prstGeom prst="rect">
            <a:avLst/>
          </a:prstGeom>
          <a:solidFill>
            <a:srgbClr val="EDF2F7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4873752" y="2532888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766560" y="2532888"/>
            <a:ext cx="1920240" cy="338328"/>
          </a:xfrm>
          <a:prstGeom prst="rect">
            <a:avLst/>
          </a:prstGeom>
          <a:solidFill>
            <a:srgbClr val="EDF2F7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6839712" y="2532888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11480" y="2889504"/>
            <a:ext cx="23774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4"/>
          <p:cNvSpPr/>
          <p:nvPr/>
        </p:nvSpPr>
        <p:spPr>
          <a:xfrm>
            <a:off x="484632" y="2889504"/>
            <a:ext cx="22677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Régime (1j)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2834640" y="2889504"/>
            <a:ext cx="1920240" cy="338328"/>
          </a:xfrm>
          <a:prstGeom prst="rect">
            <a:avLst/>
          </a:prstGeom>
          <a:solidFill>
            <a:srgbClr val="D5F5E3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Text 46"/>
          <p:cNvSpPr/>
          <p:nvPr/>
        </p:nvSpPr>
        <p:spPr>
          <a:xfrm>
            <a:off x="2907792" y="2889504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+0.035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800600" y="2889504"/>
            <a:ext cx="19202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4873752" y="2889504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766560" y="2889504"/>
            <a:ext cx="19202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2" name="Text 50"/>
          <p:cNvSpPr/>
          <p:nvPr/>
        </p:nvSpPr>
        <p:spPr>
          <a:xfrm>
            <a:off x="6839712" y="2889504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11480" y="3246120"/>
            <a:ext cx="2377440" cy="338328"/>
          </a:xfrm>
          <a:prstGeom prst="rect">
            <a:avLst/>
          </a:prstGeom>
          <a:solidFill>
            <a:srgbClr val="EDF2F7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Text 52"/>
          <p:cNvSpPr/>
          <p:nvPr/>
        </p:nvSpPr>
        <p:spPr>
          <a:xfrm>
            <a:off x="484632" y="3246120"/>
            <a:ext cx="22677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Régime (5j)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2834640" y="3246120"/>
            <a:ext cx="1920240" cy="338328"/>
          </a:xfrm>
          <a:prstGeom prst="rect">
            <a:avLst/>
          </a:prstGeom>
          <a:solidFill>
            <a:srgbClr val="D5F5E3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6" name="Text 54"/>
          <p:cNvSpPr/>
          <p:nvPr/>
        </p:nvSpPr>
        <p:spPr>
          <a:xfrm>
            <a:off x="2907792" y="3246120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+0.045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800600" y="3246120"/>
            <a:ext cx="1920240" cy="338328"/>
          </a:xfrm>
          <a:prstGeom prst="rect">
            <a:avLst/>
          </a:prstGeom>
          <a:solidFill>
            <a:srgbClr val="EDF2F7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Text 56"/>
          <p:cNvSpPr/>
          <p:nvPr/>
        </p:nvSpPr>
        <p:spPr>
          <a:xfrm>
            <a:off x="4873752" y="3246120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6766560" y="3246120"/>
            <a:ext cx="1920240" cy="338328"/>
          </a:xfrm>
          <a:prstGeom prst="rect">
            <a:avLst/>
          </a:prstGeom>
          <a:solidFill>
            <a:srgbClr val="EDF2F7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0" name="Text 58"/>
          <p:cNvSpPr/>
          <p:nvPr/>
        </p:nvSpPr>
        <p:spPr>
          <a:xfrm>
            <a:off x="6839712" y="3246120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11480" y="3602736"/>
            <a:ext cx="23774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Text 60"/>
          <p:cNvSpPr/>
          <p:nvPr/>
        </p:nvSpPr>
        <p:spPr>
          <a:xfrm>
            <a:off x="484632" y="3602736"/>
            <a:ext cx="22677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Rebalancements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2834640" y="3602736"/>
            <a:ext cx="19202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4" name="Text 62"/>
          <p:cNvSpPr/>
          <p:nvPr/>
        </p:nvSpPr>
        <p:spPr>
          <a:xfrm>
            <a:off x="2907792" y="3602736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4800600" y="3602736"/>
            <a:ext cx="19202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6" name="Text 64"/>
          <p:cNvSpPr/>
          <p:nvPr/>
        </p:nvSpPr>
        <p:spPr>
          <a:xfrm>
            <a:off x="4873752" y="3602736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6766560" y="3602736"/>
            <a:ext cx="192024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8" name="Text 66"/>
          <p:cNvSpPr/>
          <p:nvPr/>
        </p:nvSpPr>
        <p:spPr>
          <a:xfrm>
            <a:off x="6839712" y="3602736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11480" y="3959352"/>
            <a:ext cx="2377440" cy="338328"/>
          </a:xfrm>
          <a:prstGeom prst="rect">
            <a:avLst/>
          </a:prstGeom>
          <a:solidFill>
            <a:srgbClr val="EDF2F7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Text 68"/>
          <p:cNvSpPr/>
          <p:nvPr/>
        </p:nvSpPr>
        <p:spPr>
          <a:xfrm>
            <a:off x="484632" y="3959352"/>
            <a:ext cx="22677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Vit./Causal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2834640" y="3959352"/>
            <a:ext cx="1920240" cy="338328"/>
          </a:xfrm>
          <a:prstGeom prst="rect">
            <a:avLst/>
          </a:prstGeom>
          <a:solidFill>
            <a:srgbClr val="D5F5E3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2" name="Text 70"/>
          <p:cNvSpPr/>
          <p:nvPr/>
        </p:nvSpPr>
        <p:spPr>
          <a:xfrm>
            <a:off x="2907792" y="3959352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98.7%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4800600" y="3959352"/>
            <a:ext cx="1920240" cy="338328"/>
          </a:xfrm>
          <a:prstGeom prst="rect">
            <a:avLst/>
          </a:prstGeom>
          <a:solidFill>
            <a:srgbClr val="EDF2F7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4" name="Text 72"/>
          <p:cNvSpPr/>
          <p:nvPr/>
        </p:nvSpPr>
        <p:spPr>
          <a:xfrm>
            <a:off x="4873752" y="3959352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6766560" y="3959352"/>
            <a:ext cx="1920240" cy="338328"/>
          </a:xfrm>
          <a:prstGeom prst="rect">
            <a:avLst/>
          </a:prstGeom>
          <a:solidFill>
            <a:srgbClr val="EDF2F7"/>
          </a:solidFill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6" name="Text 74"/>
          <p:cNvSpPr/>
          <p:nvPr/>
        </p:nvSpPr>
        <p:spPr>
          <a:xfrm>
            <a:off x="6839712" y="3959352"/>
            <a:ext cx="181051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411480" y="4334256"/>
            <a:ext cx="8321040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8" name="Shape 76"/>
          <p:cNvSpPr/>
          <p:nvPr/>
        </p:nvSpPr>
        <p:spPr>
          <a:xfrm>
            <a:off x="411480" y="4334256"/>
            <a:ext cx="91440" cy="43891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9" name="Text 77"/>
          <p:cNvSpPr/>
          <p:nvPr/>
        </p:nvSpPr>
        <p:spPr>
          <a:xfrm>
            <a:off x="594360" y="4352544"/>
            <a:ext cx="8046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IC(5j) = +0.045 : signal exploitable (seuil industriel ≥ 0.03)  |  MDD : −26.0% vs −33.7% (Buy &amp; Hold)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1" name="Text 79"/>
          <p:cNvSpPr/>
          <p:nvPr/>
        </p:nvSpPr>
        <p:spPr>
          <a:xfrm>
            <a:off x="274320" y="492861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VAE-HMM Pipeline  |  Market Regime Detection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8046720" y="4928616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28600"/>
            <a:ext cx="1554480" cy="256032"/>
          </a:xfrm>
          <a:prstGeom prst="roundRect">
            <a:avLst>
              <a:gd name="adj" fmla="val 28571"/>
            </a:avLst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2286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RÉSULTATS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20040" y="530352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Dynamique — Sharpe Glissant &amp; Drawdowns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320040" y="1024128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 Glissant 63 jours</a:t>
            </a:r>
            <a:endParaRPr lang="en-US" sz="1000" dirty="0"/>
          </a:p>
        </p:txBody>
      </p:sp>
      <p:pic>
        <p:nvPicPr>
          <p:cNvPr id="6" name="Image 0" descr="/home/claude/src_pres/src/results/figures/06_rolling_sharp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261872"/>
            <a:ext cx="8503920" cy="15727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2907792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Drawdowns</a:t>
            </a:r>
            <a:endParaRPr lang="en-US" sz="1000" dirty="0"/>
          </a:p>
        </p:txBody>
      </p:sp>
      <p:pic>
        <p:nvPicPr>
          <p:cNvPr id="8" name="Image 1" descr="/home/claude/src_pres/src/results/figures/05_drawdown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0040" y="3154680"/>
            <a:ext cx="8503920" cy="148132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6"/>
          <p:cNvSpPr/>
          <p:nvPr/>
        </p:nvSpPr>
        <p:spPr>
          <a:xfrm>
            <a:off x="274320" y="492861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VAE-HMM Pipeline  |  Market Regime Detection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8046720" y="4928616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28600"/>
            <a:ext cx="1554480" cy="256032"/>
          </a:xfrm>
          <a:prstGeom prst="roundRect">
            <a:avLst>
              <a:gd name="adj" fmla="val 28571"/>
            </a:avLst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2286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LIMITES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20040" y="530352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Identifiées &amp; Next Steps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697480" cy="1627632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269748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11480" y="123444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 de détection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545336"/>
            <a:ext cx="2514600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mois de lag sur les débuts de bear. Matrice de transition trop sticky (p_00=0.979).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2968" y="1143000"/>
            <a:ext cx="2697480" cy="1627632"/>
          </a:xfrm>
          <a:prstGeom prst="rect">
            <a:avLst/>
          </a:prstGeom>
          <a:solidFill>
            <a:srgbClr val="FFFFFF"/>
          </a:solidFill>
          <a:ln w="15240">
            <a:solidFill>
              <a:srgbClr val="D354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3172968" y="1143000"/>
            <a:ext cx="2697480" cy="54864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264408" y="123444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 VAE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64408" y="1545336"/>
            <a:ext cx="2514600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train/val persistant. Mémorisation partielle du train set. Solution : augmentation de données.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25896" y="1143000"/>
            <a:ext cx="2697480" cy="1627632"/>
          </a:xfrm>
          <a:prstGeom prst="rect">
            <a:avLst/>
          </a:prstGeom>
          <a:solidFill>
            <a:srgbClr val="FFFFFF"/>
          </a:solidFill>
          <a:ln w="15240">
            <a:solidFill>
              <a:srgbClr val="D354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6025896" y="1143000"/>
            <a:ext cx="2697480" cy="54864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117336" y="123444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Instabilité β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17336" y="1545336"/>
            <a:ext cx="2514600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Performances très sensibles à β_end. Nécessite une grid search formelle (Optuna).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2926080"/>
            <a:ext cx="4069080" cy="1627632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320040" y="2926080"/>
            <a:ext cx="406908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411480" y="3017520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snooping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3328416"/>
            <a:ext cx="3886200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visualisé pendant le développement. Vrai holdout final non préservé.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17720" y="2926080"/>
            <a:ext cx="4069080" cy="1627632"/>
          </a:xfrm>
          <a:prstGeom prst="rect">
            <a:avLst/>
          </a:prstGeom>
          <a:solidFill>
            <a:srgbClr val="FFFFFF"/>
          </a:solidFill>
          <a:ln w="15240">
            <a:solidFill>
              <a:srgbClr val="7F8C8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4617720" y="2926080"/>
            <a:ext cx="4069080" cy="54864"/>
          </a:xfrm>
          <a:prstGeom prst="rect">
            <a:avLst/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709160" y="3017520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Marché unique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09160" y="3328416"/>
            <a:ext cx="3886200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Calibré uniquement sur SPY. Généralisation aux marchés EM / small caps non validée.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" y="4617720"/>
            <a:ext cx="8503920" cy="201168"/>
          </a:xfrm>
          <a:prstGeom prst="rect">
            <a:avLst/>
          </a:prstGeom>
          <a:solidFill>
            <a:srgbClr val="D5F5E3"/>
          </a:solidFill>
          <a:ln w="1016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57200" y="4626864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: Grid search β · 3 régimes stables · Modèle online · Extension multi-actifs · Monitoring PSI en production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274320" y="492861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VAE-HMM Pipeline  |  Market Regime Detection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046720" y="4928616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5669280" y="0"/>
            <a:ext cx="3474720" cy="5143500"/>
          </a:xfrm>
          <a:prstGeom prst="rect">
            <a:avLst/>
          </a:prstGeom>
          <a:solidFill>
            <a:srgbClr val="1A6B9A">
              <a:alpha val="14000"/>
            </a:srgbClr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Résumé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ce pipeline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apporte réellement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221992"/>
            <a:ext cx="201168" cy="201168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49808" y="214884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robuste — </a:t>
            </a:r>
            <a:r>
              <a:rPr lang="en-US" sz="12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 2022 capté — MDD réduit de 33.7% → 26.0%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798064"/>
            <a:ext cx="201168" cy="20116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749808" y="2724912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exploitable — </a:t>
            </a:r>
            <a:r>
              <a:rPr lang="en-US" sz="12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IC(5j) = +0.045 — seuil industriel de 0.03 franchi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374136"/>
            <a:ext cx="201168" cy="201168"/>
          </a:xfrm>
          <a:prstGeom prst="rect">
            <a:avLst/>
          </a:prstGeom>
          <a:solidFill>
            <a:srgbClr val="B8D4E8"/>
          </a:solidFill>
          <a:ln w="1270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749808" y="3300984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Causalité garantie — </a:t>
            </a:r>
            <a:r>
              <a:rPr lang="en-US" sz="12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filtering — accord Viterbi/causal 98.7%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950208"/>
            <a:ext cx="201168" cy="201168"/>
          </a:xfrm>
          <a:prstGeom prst="rect">
            <a:avLst/>
          </a:prstGeom>
          <a:solidFill>
            <a:srgbClr val="95A5A6"/>
          </a:solidFill>
          <a:ln w="12700">
            <a:solidFill>
              <a:srgbClr val="95A5A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749808" y="3877056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extensible — </a:t>
            </a:r>
            <a:r>
              <a:rPr lang="en-US" sz="12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régimes · multi-actifs · monitoring production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0" y="1280160"/>
            <a:ext cx="2286000" cy="2286000"/>
          </a:xfrm>
          <a:prstGeom prst="ellipse">
            <a:avLst/>
          </a:prstGeom>
          <a:solidFill>
            <a:srgbClr val="1A6B9A">
              <a:alpha val="28000"/>
            </a:srgbClr>
          </a:solidFill>
          <a:ln w="254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400800" y="164592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+0.045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6583680" y="3657600"/>
            <a:ext cx="1920240" cy="914400"/>
          </a:xfrm>
          <a:prstGeom prst="ellipse">
            <a:avLst/>
          </a:prstGeom>
          <a:solidFill>
            <a:srgbClr val="1E8449">
              <a:alpha val="22000"/>
            </a:srgbClr>
          </a:solidFill>
          <a:ln w="1905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583680" y="37490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MDD −26%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46634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disponible avec interface Streamlit  ·  Questions ?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274320" y="492861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VAE-HMM Pipeline  |  Market Regime Detection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046720" y="4928616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28600"/>
            <a:ext cx="1554480" cy="256032"/>
          </a:xfrm>
          <a:prstGeom prst="roundRect">
            <a:avLst>
              <a:gd name="adj" fmla="val 28571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2286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Q&amp;A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20040" y="530352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Anticipées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115568"/>
            <a:ext cx="850392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20040" y="1115568"/>
            <a:ext cx="91440" cy="11704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02920" y="11521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Vous ne battez pas le Buy &amp; Hold — votre modèle est-il vraiment utile ?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444752"/>
            <a:ext cx="8138160" cy="0"/>
          </a:xfrm>
          <a:prstGeom prst="line">
            <a:avLst/>
          </a:prstGeom>
          <a:noFill/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502920" y="1481328"/>
            <a:ext cx="822960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 Sur un bull market pur, oui le Buy &amp; Hold gagne. Mais ce n'est pas le bon test. Sur un cycle complet (2019-2025) incluant le bear 2022 : MDD réduit de 33.7% → 26.0%. Un gérant institutionnel ne tolère pas un drawdown de −33.7%. La valeur est dans la gestion du risque.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" y="2377440"/>
            <a:ext cx="850392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9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320040" y="2377440"/>
            <a:ext cx="91440" cy="1170432"/>
          </a:xfrm>
          <a:prstGeom prst="rect">
            <a:avLst/>
          </a:prstGeom>
          <a:solidFill>
            <a:srgbClr val="1A6B9A"/>
          </a:solidFill>
          <a:ln w="12700">
            <a:solidFill>
              <a:srgbClr val="1A6B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02920" y="24140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6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Comment garantissez-vous l'absence de look-ahead bias ?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706624"/>
            <a:ext cx="8138160" cy="0"/>
          </a:xfrm>
          <a:prstGeom prst="line">
            <a:avLst/>
          </a:prstGeom>
          <a:noFill/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502920" y="2743200"/>
            <a:ext cx="822960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 Deux mécanismes : (1) RobustScaler fitté uniquement sur train. (2) Backtest via forward filtering P(régime_t | données_1:t) — causal par construction. Viterbi réservé à la visualisation post-hoc. Accord 98.7% confirme la robustesse causale.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0040" y="3639312"/>
            <a:ext cx="850392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E844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320040" y="3639312"/>
            <a:ext cx="91440" cy="1170432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502920" y="367588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Pourquoi un VAE et pas un PCA + HMM ?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3968496"/>
            <a:ext cx="8138160" cy="0"/>
          </a:xfrm>
          <a:prstGeom prst="line">
            <a:avLst/>
          </a:prstGeom>
          <a:noFill/>
          <a:ln w="6350">
            <a:solidFill>
              <a:srgbClr val="B8D4E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502920" y="4005072"/>
            <a:ext cx="822960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 PCA est linéaire — ne capte pas les non-linéarités (vol asymétrique, levier). La contrainte variationnelle z ~ N(0,I) force des transitions lisses entre régimes. Sans VAE convergé, le HMM produit des régimes inversés (rendements Bear &gt; Bull) — constaté empiriquement.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274320" y="492861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VAE-HMM Pipeline  |  Market Regime Detection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046720" y="4928616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1342</Words>
  <Application>Microsoft Office PowerPoint</Application>
  <PresentationFormat>On-screen Show (16:9)</PresentationFormat>
  <Paragraphs>280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 Regime Detection — VAE-HMM Pipeline</dc:title>
  <dc:subject>PptxGenJS Presentation</dc:subject>
  <dc:creator>Lead Data Scientist</dc:creator>
  <cp:lastModifiedBy>Gabriel Maisonnave</cp:lastModifiedBy>
  <cp:revision>2</cp:revision>
  <dcterms:created xsi:type="dcterms:W3CDTF">2026-03-29T18:20:17Z</dcterms:created>
  <dcterms:modified xsi:type="dcterms:W3CDTF">2026-03-29T21:36:52Z</dcterms:modified>
</cp:coreProperties>
</file>