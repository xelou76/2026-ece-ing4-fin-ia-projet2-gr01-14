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85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D151-908F-17D6-F051-2B2B9688C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C762C1-1949-E775-8167-83EA7E2D9F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090B5-5C97-46CC-C28D-57CCBEE51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46E16-4C06-FD36-33AC-DDA6F4265F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047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6B9A">
              <a:alpha val="18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498080" y="0"/>
            <a:ext cx="1645920" cy="5143500"/>
          </a:xfrm>
          <a:prstGeom prst="rect">
            <a:avLst/>
          </a:prstGeom>
          <a:solidFill>
            <a:srgbClr val="1A6B9A">
              <a:alpha val="32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320040" y="475488"/>
            <a:ext cx="2377440" cy="27432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4754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IA ING4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0040" y="914400"/>
            <a:ext cx="6217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20040" y="26700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Adaptive Portfolio Allocation Pipeline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20040" y="3273552"/>
            <a:ext cx="1371600" cy="256032"/>
          </a:xfrm>
          <a:prstGeom prst="rect">
            <a:avLst/>
          </a:prstGeom>
          <a:solidFill>
            <a:srgbClr val="1C283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3273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– 2025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783080" y="3273552"/>
            <a:ext cx="2286000" cy="256032"/>
          </a:xfrm>
          <a:prstGeom prst="rect">
            <a:avLst/>
          </a:prstGeom>
          <a:solidFill>
            <a:srgbClr val="1C283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783080" y="3273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 · TLT · GLD · ^VIX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60520" y="3273552"/>
            <a:ext cx="1828800" cy="256032"/>
          </a:xfrm>
          <a:prstGeom prst="rect">
            <a:avLst/>
          </a:prstGeom>
          <a:solidFill>
            <a:srgbClr val="1C283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160520" y="3273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Features  |  8D Latent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3712464"/>
            <a:ext cx="6858000" cy="0"/>
          </a:xfrm>
          <a:prstGeom prst="line">
            <a:avLst/>
          </a:prstGeom>
          <a:noFill/>
          <a:ln w="635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20040" y="4027931"/>
            <a:ext cx="2377440" cy="11155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MAISONNAVE Gabriel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COUVERT Raphaël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DE GASQUET Aurèle</a:t>
            </a:r>
          </a:p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0" y="16459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sections  ~20 min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08960" y="347472"/>
            <a:ext cx="365760" cy="40233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108960" y="34747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11296" y="347472"/>
            <a:ext cx="5303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39312" y="347472"/>
            <a:ext cx="5102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08960" y="1005840"/>
            <a:ext cx="365760" cy="402336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108960" y="100584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11296" y="1005840"/>
            <a:ext cx="5303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39312" y="1005840"/>
            <a:ext cx="5102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Feature Engineering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108960" y="1664208"/>
            <a:ext cx="365760" cy="402336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10896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11296" y="1664208"/>
            <a:ext cx="5303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3639312" y="1664208"/>
            <a:ext cx="5102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Méthodologique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108960" y="2322576"/>
            <a:ext cx="365760" cy="402336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108960" y="232257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511296" y="2322576"/>
            <a:ext cx="5303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639312" y="2322576"/>
            <a:ext cx="5102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108960" y="2980944"/>
            <a:ext cx="365760" cy="40233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108960" y="298094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11296" y="2980944"/>
            <a:ext cx="5303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639312" y="2980944"/>
            <a:ext cx="5102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KPIs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108960" y="3639312"/>
            <a:ext cx="365760" cy="40233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108960" y="363931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11296" y="3639312"/>
            <a:ext cx="5303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3639312" y="3639312"/>
            <a:ext cx="5102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Next Steps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108960" y="4297680"/>
            <a:ext cx="365760" cy="402336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108960" y="429768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511296" y="4297680"/>
            <a:ext cx="530352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639312" y="4297680"/>
            <a:ext cx="5102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Questions anticipées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CONTEXTE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Business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9875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91440" cy="9875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30352" y="1152144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gérant passif a subi −24.5% en 2022 sans aucun signal pour réduire le risque.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: peut-on détecter le régime de marché en temps réel pour adapter l'allocation ?"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2743200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latents 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observables directement.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27832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3227832" y="2286000"/>
            <a:ext cx="2743200" cy="23774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227832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ASYMÉTRIE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19272" y="2560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markets : des années.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: quelques semaines.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35624" y="2286000"/>
            <a:ext cx="27432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135624" y="2286000"/>
            <a:ext cx="2743200" cy="237744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135624" y="228600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CAUSALITÉ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27064" y="25603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doit être causal —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look-ahead bias.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3547872"/>
            <a:ext cx="850392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: LSTM-VAE (compression 64→8D) → HMM (détection régimes) → Forward Filtering (causalité garantie)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DONNÉES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Feature Engineering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3931920" cy="274320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 — 2007 → 2025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594360" cy="3017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170432" y="1490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 — benchmark equity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83664"/>
            <a:ext cx="594360" cy="3017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1883664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170432" y="19110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Treasuries 20 ans — risk-off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304288"/>
            <a:ext cx="594360" cy="3017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02920" y="2304288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70432" y="2331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— hedge inflation / crise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724912"/>
            <a:ext cx="594360" cy="3017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02920" y="2724912"/>
            <a:ext cx="594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^VIX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70432" y="275234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de peur — vol implicite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TEMPOREL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401568"/>
            <a:ext cx="1664208" cy="56692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02920" y="34015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58%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6758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2007–2018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~2 700j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203704" y="3401568"/>
            <a:ext cx="457200" cy="566928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2203704" y="34015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 6%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203704" y="36758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2018–2019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~278j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697480" y="3401568"/>
            <a:ext cx="1664208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697480" y="340156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36%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697480" y="3675888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2019–2025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~1 673j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4840" y="1097280"/>
            <a:ext cx="4389120" cy="3401568"/>
          </a:xfrm>
          <a:prstGeom prst="rect">
            <a:avLst/>
          </a:prstGeom>
          <a:solidFill>
            <a:srgbClr val="FFFFFF"/>
          </a:solidFill>
          <a:ln w="1016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4434840" y="1097280"/>
            <a:ext cx="43891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4434840" y="1097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FEATURES — 13 FAMILLES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146304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00600" y="1463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Log-rendements multi-horizons (1j, 5j, 21j)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178308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0060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Volatilité réalisée glissante (5j, 21j, 63j)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210312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00600" y="21031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d'ordre supérieur (skewness, kurtosis)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242316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480060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· Bollinger Bands · MACD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0" y="274320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00600" y="27432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de volatilité (niveau relatif)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306324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48006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courant — proxy stress marché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38328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800600" y="3383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Autocorrélation des rendements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70332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4800600" y="3703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 glissantes inter-actifs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023360"/>
            <a:ext cx="164592" cy="201168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800600" y="4023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vol court/long + tendance EMA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34840" y="4416552"/>
            <a:ext cx="4389120" cy="384048"/>
          </a:xfrm>
          <a:prstGeom prst="rect">
            <a:avLst/>
          </a:prstGeom>
          <a:solidFill>
            <a:srgbClr val="D5F5E3"/>
          </a:solidFill>
          <a:ln w="1016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4572000" y="4434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fitté train only · Séquences 30j · Forward filtering causal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MÉTHODE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VAE-HMM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29260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1155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115568"/>
            <a:ext cx="22860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337560" y="111556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principal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23560" y="1115568"/>
            <a:ext cx="320040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5669280" y="1115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Raison d'exclusion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46304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93192" y="1463040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 direct (64 features)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463040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364992" y="1463040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interprétable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1463040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5696712" y="1463040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 — 64D trop bruité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865376"/>
            <a:ext cx="2926080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93192" y="1865376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MS (baseline)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91840" y="1865376"/>
            <a:ext cx="2286000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364992" y="1865376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Fondement économétrique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1865376"/>
            <a:ext cx="3200400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696712" y="1865376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série AR uniquement, pas de cross-assets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26771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93192" y="2267712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GMM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267712"/>
            <a:ext cx="22860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364992" y="2267712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paramétrique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23560" y="2267712"/>
            <a:ext cx="3200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5696712" y="2267712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structure temporelle des transitions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670048"/>
            <a:ext cx="2926080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393192" y="2670048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supervisé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2670048"/>
            <a:ext cx="2286000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3364992" y="2670048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précision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23560" y="2670048"/>
            <a:ext cx="3200400" cy="38404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5696712" y="2670048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Nécessite des labels — problème non supervisé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072384"/>
            <a:ext cx="292608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93192" y="3072384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VAE-HMM (retenu)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3072384"/>
            <a:ext cx="228600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364992" y="3072384"/>
            <a:ext cx="2176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 64→8D + dynamique temporelle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3072384"/>
            <a:ext cx="3200400" cy="384048"/>
          </a:xfrm>
          <a:prstGeom prst="rect">
            <a:avLst/>
          </a:prstGeom>
          <a:solidFill>
            <a:srgbClr val="D5F5E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696712" y="3072384"/>
            <a:ext cx="3090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547872"/>
            <a:ext cx="850392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40"/>
          <p:cNvSpPr/>
          <p:nvPr/>
        </p:nvSpPr>
        <p:spPr>
          <a:xfrm>
            <a:off x="320040" y="3547872"/>
            <a:ext cx="91440" cy="7498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502920" y="3584448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clé : </a:t>
            </a:r>
            <a:r>
              <a:rPr lang="en-US" sz="11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contrainte variationnelle (z ~ N(0,I)) force un espace latent continu. Les transitions entre régimes deviennent des trajectoires lisses — exactement ce dont le HMM a besoin. Sans VAE convergé, le HMM clusterise du bruit et produit des régimes inversés.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VAE-HMM — 5 Étapes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" y="1170432"/>
            <a:ext cx="1627632" cy="2331720"/>
          </a:xfrm>
          <a:prstGeom prst="rect">
            <a:avLst/>
          </a:prstGeom>
          <a:solidFill>
            <a:srgbClr val="162535"/>
          </a:solidFill>
          <a:ln w="1905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01168" y="1170432"/>
            <a:ext cx="1627632" cy="731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786384" y="1298448"/>
            <a:ext cx="457200" cy="457200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786384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" y="18288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→ 64 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RobustScaler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seq(30, 64)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1031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75104" y="1170432"/>
            <a:ext cx="1627632" cy="2331720"/>
          </a:xfrm>
          <a:prstGeom prst="rect">
            <a:avLst/>
          </a:prstGeom>
          <a:solidFill>
            <a:srgbClr val="162535"/>
          </a:solidFill>
          <a:ln w="1905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975104" y="1170432"/>
            <a:ext cx="1627632" cy="731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560320" y="1298448"/>
            <a:ext cx="457200" cy="457200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560320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975104" y="18288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48256" y="237744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Encodeur LSTM bidir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Attention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 ∈ ℝ⁸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02736" y="21031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1170432"/>
            <a:ext cx="1627632" cy="2331720"/>
          </a:xfrm>
          <a:prstGeom prst="rect">
            <a:avLst/>
          </a:prstGeom>
          <a:solidFill>
            <a:srgbClr val="162535"/>
          </a:solidFill>
          <a:ln w="1905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3749040" y="1170432"/>
            <a:ext cx="1627632" cy="7315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334256" y="1298448"/>
            <a:ext cx="457200" cy="457200"/>
          </a:xfrm>
          <a:prstGeom prst="ellipse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334256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49040" y="18288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22192" y="237744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GaussianHMM K=2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cov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régimes ordonnés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76672" y="21031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22976" y="1170432"/>
            <a:ext cx="1627632" cy="2331720"/>
          </a:xfrm>
          <a:prstGeom prst="rect">
            <a:avLst/>
          </a:prstGeom>
          <a:solidFill>
            <a:srgbClr val="162535"/>
          </a:solidFill>
          <a:ln w="1905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5522976" y="1170432"/>
            <a:ext cx="1627632" cy="731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108192" y="1298448"/>
            <a:ext cx="457200" cy="45720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108192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522976" y="18288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96128" y="237744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filtering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soft allocation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frais 10bps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50608" y="2103120"/>
            <a:ext cx="146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296912" y="1170432"/>
            <a:ext cx="1627632" cy="2331720"/>
          </a:xfrm>
          <a:prstGeom prst="rect">
            <a:avLst/>
          </a:prstGeom>
          <a:solidFill>
            <a:srgbClr val="162535"/>
          </a:solidFill>
          <a:ln w="1905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7296912" y="1170432"/>
            <a:ext cx="1627632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Shape 33"/>
          <p:cNvSpPr/>
          <p:nvPr/>
        </p:nvSpPr>
        <p:spPr>
          <a:xfrm>
            <a:off x="7882128" y="1298448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7882128" y="1298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296912" y="1828800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70064" y="2377440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Jobson-Korkie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· Sharpe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· Sortino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657600"/>
            <a:ext cx="8503920" cy="1005840"/>
          </a:xfrm>
          <a:prstGeom prst="rect">
            <a:avLst/>
          </a:prstGeom>
          <a:solidFill>
            <a:srgbClr val="162535"/>
          </a:solidFill>
          <a:ln w="1016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502920" y="369417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CRITIQUES APPORTÉES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11480" y="3931920"/>
            <a:ext cx="16459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612648" y="39044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LSTM bidir corrigé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75688" y="3931920"/>
            <a:ext cx="16459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2276856" y="39044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sur val_recon (pas val_ELBO)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739896" y="3931920"/>
            <a:ext cx="16459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3941064" y="39044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 ES pendant KL warmup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404104" y="3931920"/>
            <a:ext cx="16459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5605272" y="39044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post-warmup uniquement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068312" y="3931920"/>
            <a:ext cx="16459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7269480" y="3904488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Attention Pooling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du LSTM-VAE</a:t>
            </a:r>
            <a:endParaRPr lang="en-US" sz="2600" dirty="0"/>
          </a:p>
        </p:txBody>
      </p:sp>
      <p:pic>
        <p:nvPicPr>
          <p:cNvPr id="5" name="Image 0" descr="/home/claude/src_pres/src/results/figures/09_training_his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24128"/>
            <a:ext cx="8595360" cy="2697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913632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457200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45079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best_epoch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560320" y="3913632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560320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0.454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560320" y="45079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val_recon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63440" y="3913632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4663440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663440" y="45079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val_kl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766560" y="3913632"/>
            <a:ext cx="1874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6766560" y="398678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766560" y="450799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β_end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Latent &amp; Matrice de Transition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Latent VAE — PCA 2D (PC1=46.7%)</a:t>
            </a:r>
            <a:endParaRPr lang="en-US" sz="900" dirty="0"/>
          </a:p>
        </p:txBody>
      </p:sp>
      <p:pic>
        <p:nvPicPr>
          <p:cNvPr id="7" name="Image 0" descr="/home/claude/src_pres/src/results/figures/08_latent_spa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1480" y="1353312"/>
            <a:ext cx="3840480" cy="2926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26280" y="105156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4526280" y="10789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Transition HMM</a:t>
            </a:r>
            <a:endParaRPr lang="en-US" sz="900" dirty="0"/>
          </a:p>
        </p:txBody>
      </p:sp>
      <p:pic>
        <p:nvPicPr>
          <p:cNvPr id="10" name="Image 1" descr="/home/claude/src_pres/src/results/figures/03_transition_matrix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17720" y="1371600"/>
            <a:ext cx="2560320" cy="1920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269480" y="1417320"/>
            <a:ext cx="146304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8"/>
          <p:cNvSpPr/>
          <p:nvPr/>
        </p:nvSpPr>
        <p:spPr>
          <a:xfrm>
            <a:off x="7315200" y="1444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R0→R0 = 0.979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315200" y="17007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espérée Bear : ~47j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7269480" y="2130552"/>
            <a:ext cx="146304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7315200" y="2157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R1→R1 = 0.997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7315200" y="24140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espérée Bull : ~333j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269480" y="2843784"/>
            <a:ext cx="1463040" cy="621792"/>
          </a:xfrm>
          <a:prstGeom prst="rect">
            <a:avLst/>
          </a:prstGeom>
          <a:solidFill>
            <a:srgbClr val="F4F6F8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4"/>
          <p:cNvSpPr/>
          <p:nvPr/>
        </p:nvSpPr>
        <p:spPr>
          <a:xfrm>
            <a:off x="7315200" y="287121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Vit./Causal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7315200" y="312724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 — zéro look-ahead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526280" y="3429000"/>
            <a:ext cx="4297680" cy="914400"/>
          </a:xfrm>
          <a:prstGeom prst="rect">
            <a:avLst/>
          </a:prstGeom>
          <a:solidFill>
            <a:srgbClr val="FFF9E7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4617720" y="3465576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: 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persistant (sticky). Avantage : pas de whipsaw. Inconvénient : retard ~3 mois en début de bear market.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9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RÉSULTATS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Détectés — SPY 2019→2025</a:t>
            </a:r>
            <a:endParaRPr lang="en-US" sz="2600" dirty="0"/>
          </a:p>
        </p:txBody>
      </p:sp>
      <p:pic>
        <p:nvPicPr>
          <p:cNvPr id="5" name="Image 0" descr="/home/claude/src_pres/src/results/figures/01_regimes_on_pri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24128"/>
            <a:ext cx="8595360" cy="33649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20040" y="4498848"/>
            <a:ext cx="201168" cy="2011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566928" y="4480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/ Haute Volatilité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20440" y="4498848"/>
            <a:ext cx="201168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767328" y="448056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/ Basse Volatilité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4736592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Flash Crash 2020 capté  ·  Bear 2022 identifié (retard ~3 mois)  ·  Bull 2023–2024 reconnu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RÉSULTATS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Curves — VAE-HMM vs Buy &amp; Hold</a:t>
            </a:r>
            <a:endParaRPr lang="en-US" sz="2600" dirty="0"/>
          </a:p>
        </p:txBody>
      </p:sp>
      <p:pic>
        <p:nvPicPr>
          <p:cNvPr id="5" name="Image 0" descr="/home/claude/src_pres/src/results/figures/02_equity_curv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024128"/>
            <a:ext cx="859536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RÉSULTATS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Performance — KPIs Clés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23774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34640" y="1115568"/>
            <a:ext cx="1920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88036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115568"/>
            <a:ext cx="1920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84632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&amp; Hold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766560" y="1115568"/>
            <a:ext cx="192024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812280" y="11155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 MS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463040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84632" y="1463040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1463040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2907792" y="1463040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1463040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873752" y="1463040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463040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6839712" y="1463040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1819656"/>
            <a:ext cx="23774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84632" y="1819656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1819656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907792" y="1819656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819656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73752" y="1819656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15.8%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66560" y="1819656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6839712" y="1819656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2176272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4632" y="2176272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834640" y="2176272"/>
            <a:ext cx="1920240" cy="338328"/>
          </a:xfrm>
          <a:prstGeom prst="rect">
            <a:avLst/>
          </a:prstGeom>
          <a:solidFill>
            <a:srgbClr val="D5F5E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2907792" y="2176272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−26.0%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2176272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4873752" y="2176272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−33.7%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66560" y="2176272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6839712" y="2176272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11480" y="2532888"/>
            <a:ext cx="23774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84632" y="2532888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2532888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8"/>
          <p:cNvSpPr/>
          <p:nvPr/>
        </p:nvSpPr>
        <p:spPr>
          <a:xfrm>
            <a:off x="2907792" y="2532888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00600" y="2532888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73752" y="2532888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766560" y="2532888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6839712" y="2532888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11480" y="2889504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484632" y="2889504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Régime (1j)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834640" y="2889504"/>
            <a:ext cx="1920240" cy="338328"/>
          </a:xfrm>
          <a:prstGeom prst="rect">
            <a:avLst/>
          </a:prstGeom>
          <a:solidFill>
            <a:srgbClr val="D5F5E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907792" y="2889504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00600" y="2889504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4873752" y="2889504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766560" y="2889504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6839712" y="2889504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" y="3246120"/>
            <a:ext cx="23774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484632" y="3246120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Régime (5j)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34640" y="3246120"/>
            <a:ext cx="1920240" cy="338328"/>
          </a:xfrm>
          <a:prstGeom prst="rect">
            <a:avLst/>
          </a:prstGeom>
          <a:solidFill>
            <a:srgbClr val="D5F5E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2907792" y="3246120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+0.045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00600" y="3246120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4873752" y="3246120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766560" y="3246120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58"/>
          <p:cNvSpPr/>
          <p:nvPr/>
        </p:nvSpPr>
        <p:spPr>
          <a:xfrm>
            <a:off x="6839712" y="3246120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11480" y="3602736"/>
            <a:ext cx="23774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484632" y="3602736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Rebalancements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834640" y="3602736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Text 62"/>
          <p:cNvSpPr/>
          <p:nvPr/>
        </p:nvSpPr>
        <p:spPr>
          <a:xfrm>
            <a:off x="2907792" y="3602736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800600" y="3602736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4873752" y="3602736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766560" y="3602736"/>
            <a:ext cx="19202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66"/>
          <p:cNvSpPr/>
          <p:nvPr/>
        </p:nvSpPr>
        <p:spPr>
          <a:xfrm>
            <a:off x="6839712" y="3602736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11480" y="3959352"/>
            <a:ext cx="23774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0" name="Text 68"/>
          <p:cNvSpPr/>
          <p:nvPr/>
        </p:nvSpPr>
        <p:spPr>
          <a:xfrm>
            <a:off x="484632" y="3959352"/>
            <a:ext cx="22677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 Vit./Causal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834640" y="3959352"/>
            <a:ext cx="1920240" cy="338328"/>
          </a:xfrm>
          <a:prstGeom prst="rect">
            <a:avLst/>
          </a:prstGeom>
          <a:solidFill>
            <a:srgbClr val="D5F5E3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2" name="Text 70"/>
          <p:cNvSpPr/>
          <p:nvPr/>
        </p:nvSpPr>
        <p:spPr>
          <a:xfrm>
            <a:off x="2907792" y="3959352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98.7%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800600" y="3959352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4" name="Text 72"/>
          <p:cNvSpPr/>
          <p:nvPr/>
        </p:nvSpPr>
        <p:spPr>
          <a:xfrm>
            <a:off x="4873752" y="3959352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766560" y="3959352"/>
            <a:ext cx="1920240" cy="338328"/>
          </a:xfrm>
          <a:prstGeom prst="rect">
            <a:avLst/>
          </a:prstGeom>
          <a:solidFill>
            <a:srgbClr val="EDF2F7"/>
          </a:solidFill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6" name="Text 74"/>
          <p:cNvSpPr/>
          <p:nvPr/>
        </p:nvSpPr>
        <p:spPr>
          <a:xfrm>
            <a:off x="6839712" y="3959352"/>
            <a:ext cx="181051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411480" y="4334256"/>
            <a:ext cx="83210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8" name="Shape 76"/>
          <p:cNvSpPr/>
          <p:nvPr/>
        </p:nvSpPr>
        <p:spPr>
          <a:xfrm>
            <a:off x="411480" y="4334256"/>
            <a:ext cx="91440" cy="43891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9" name="Text 77"/>
          <p:cNvSpPr/>
          <p:nvPr/>
        </p:nvSpPr>
        <p:spPr>
          <a:xfrm>
            <a:off x="594360" y="435254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IC(5j) = +0.045 : signal exploitable (seuil industriel ≥ 0.03)  |  MDD : −26.0% vs −33.7% (Buy &amp; Hold)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1" name="Text 79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RÉSULTATS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Dynamique — Sharpe Glissant &amp; Drawdowns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102412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Glissant 63 jours</a:t>
            </a:r>
            <a:endParaRPr lang="en-US" sz="1000" dirty="0"/>
          </a:p>
        </p:txBody>
      </p:sp>
      <p:pic>
        <p:nvPicPr>
          <p:cNvPr id="6" name="Image 0" descr="/home/claude/src_pres/src/results/figures/06_rolling_sharp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261872"/>
            <a:ext cx="8503920" cy="1572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907792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Drawdowns</a:t>
            </a:r>
            <a:endParaRPr lang="en-US" sz="1000" dirty="0"/>
          </a:p>
        </p:txBody>
      </p:sp>
      <p:pic>
        <p:nvPicPr>
          <p:cNvPr id="8" name="Image 1" descr="/home/claude/src_pres/src/results/figures/05_drawdow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" y="3154680"/>
            <a:ext cx="8503920" cy="14813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LIMITES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Identifiées &amp; Next Steps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6974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 de détection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45336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 mois de lag sur les débuts de bear. Matrice de transition trop sticky (p_00=0.979).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72968" y="1143000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172968" y="1143000"/>
            <a:ext cx="269748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64408" y="1234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VAE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64408" y="1545336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train/val persistant. Mémorisation partielle du train set. Solution : augmentation de données.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25896" y="1143000"/>
            <a:ext cx="26974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D354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025896" y="1143000"/>
            <a:ext cx="269748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17336" y="12344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Instabilité 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17336" y="1545336"/>
            <a:ext cx="25146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Performances très sensibles à β_end. Nécessite une grid search formelle (Optuna).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0690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20040" y="2926080"/>
            <a:ext cx="40690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11480" y="30175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</a:t>
            </a:r>
            <a:r>
              <a:rPr lang="en-US" sz="1100" b="1" dirty="0" err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 optimal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28416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de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capté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cloture.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926080"/>
            <a:ext cx="4069080" cy="1627632"/>
          </a:xfrm>
          <a:prstGeom prst="rect">
            <a:avLst/>
          </a:prstGeom>
          <a:solidFill>
            <a:srgbClr val="FFFFFF"/>
          </a:solidFill>
          <a:ln w="15240">
            <a:solidFill>
              <a:srgbClr val="7F8C8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617720" y="2926080"/>
            <a:ext cx="4069080" cy="54864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09160" y="30175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unique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328416"/>
            <a:ext cx="388620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Calibré uniquement sur SPY. Généralisation aux marchés EM / small caps non validée.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4617720"/>
            <a:ext cx="8503920" cy="201168"/>
          </a:xfrm>
          <a:prstGeom prst="rect">
            <a:avLst/>
          </a:prstGeom>
          <a:solidFill>
            <a:srgbClr val="D5F5E3"/>
          </a:solidFill>
          <a:ln w="1016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57200" y="462686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: Grid search β · 3 régimes stables · Modèle online · Extension multi-actifs · Monitoring PSI en production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6B9A">
              <a:alpha val="14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 pipeline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apporte réellement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221992"/>
            <a:ext cx="201168" cy="20116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749808" y="21488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robuste — </a:t>
            </a: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2022 capté — MDD réduit de 33.7% → 26.0%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798064"/>
            <a:ext cx="201168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749808" y="272491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exploitable — </a:t>
            </a: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IC(5j) = +0.045 — seuil industriel de 0.03 franchi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74136"/>
            <a:ext cx="201168" cy="201168"/>
          </a:xfrm>
          <a:prstGeom prst="rect">
            <a:avLst/>
          </a:prstGeom>
          <a:solidFill>
            <a:srgbClr val="B8D4E8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749808" y="3300984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Causalité garantie — </a:t>
            </a: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filtering — accord Viterbi/causal 98.7%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50208"/>
            <a:ext cx="201168" cy="201168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749808" y="387705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extensible — </a:t>
            </a:r>
            <a:r>
              <a:rPr lang="en-US" sz="12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régimes · multi-actifs · monitoring production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280160"/>
            <a:ext cx="2286000" cy="2286000"/>
          </a:xfrm>
          <a:prstGeom prst="ellipse">
            <a:avLst/>
          </a:prstGeom>
          <a:solidFill>
            <a:srgbClr val="1A6B9A">
              <a:alpha val="28000"/>
            </a:srgbClr>
          </a:solidFill>
          <a:ln w="254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00800" y="164592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+0.045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583680" y="3657600"/>
            <a:ext cx="1920240" cy="914400"/>
          </a:xfrm>
          <a:prstGeom prst="ellipse">
            <a:avLst/>
          </a:prstGeom>
          <a:solidFill>
            <a:srgbClr val="1E8449">
              <a:alpha val="22000"/>
            </a:srgbClr>
          </a:solidFill>
          <a:ln w="190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583680" y="374904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−26%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disponible avec interface Streamlit  ·  Questions 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DDEF2-50AB-43DE-6844-9E5633B6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52E530-944F-CA62-2E85-ACAEECDC3E11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C6321E7-A338-F579-7289-C5913CE435F2}"/>
              </a:ext>
            </a:extLst>
          </p:cNvPr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6B9A">
              <a:alpha val="14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A3C03A0-BD5F-9569-EA2D-F4CECC64713F}"/>
              </a:ext>
            </a:extLst>
          </p:cNvPr>
          <p:cNvSpPr/>
          <p:nvPr/>
        </p:nvSpPr>
        <p:spPr>
          <a:xfrm>
            <a:off x="457200" y="147751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</a:t>
            </a: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3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3FF41B6-FE70-7611-FF25-54CC1FDE1ABC}"/>
              </a:ext>
            </a:extLst>
          </p:cNvPr>
          <p:cNvSpPr/>
          <p:nvPr/>
        </p:nvSpPr>
        <p:spPr>
          <a:xfrm>
            <a:off x="457200" y="352958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B7AA4A0-7C8B-6400-AA30-2FC6F04D91F0}"/>
              </a:ext>
            </a:extLst>
          </p:cNvPr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5C63E4DA-B46A-BDD6-E8FD-22D906E1493A}"/>
              </a:ext>
            </a:extLst>
          </p:cNvPr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D6644FD-EE58-EC3A-D0B5-170C88CD3DF4}"/>
              </a:ext>
            </a:extLst>
          </p:cNvPr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844726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28600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20040" y="228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Q&amp;A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320040" y="530352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Anticipées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9144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02920" y="11521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Vous ne battez pas le Buy &amp; Hold — votre modèle est-il vraiment utile ?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8138160" cy="0"/>
          </a:xfrm>
          <a:prstGeom prst="line">
            <a:avLst/>
          </a:prstGeom>
          <a:noFill/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02920" y="1481328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Sur un bull market pur, oui le Buy &amp; Hold gagne. Mais ce n'est pas le bon test. Sur un cycle complet (2019-2025) incluant le bear 2022 : MDD réduit de 33.7% → 26.0%. Un gérant institutionnel ne tolère pas un drawdown de −33.7%. La valeur est dans la gestion du risque.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377440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6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91440" cy="1170432"/>
          </a:xfrm>
          <a:prstGeom prst="rect">
            <a:avLst/>
          </a:prstGeom>
          <a:solidFill>
            <a:srgbClr val="1A6B9A"/>
          </a:solidFill>
          <a:ln w="12700">
            <a:solidFill>
              <a:srgbClr val="1A6B9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02920" y="2414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6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Comment garantissez-vous l'absence de look-ahead bias 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706624"/>
            <a:ext cx="8138160" cy="0"/>
          </a:xfrm>
          <a:prstGeom prst="line">
            <a:avLst/>
          </a:prstGeom>
          <a:noFill/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02920" y="2743200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Deux mécanismes : (1) RobustScaler fitté uniquement sur train. (2) Backtest via forward filtering P(régime_t | données_1:t) — causal par construction. Viterbi réservé à la visualisation post-hoc. Accord 98.7% confirme la robustesse causale.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39312"/>
            <a:ext cx="85039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91440" cy="1170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02920" y="3675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Pourquoi un VAE et pas un PCA + HMM 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968496"/>
            <a:ext cx="8138160" cy="0"/>
          </a:xfrm>
          <a:prstGeom prst="line">
            <a:avLst/>
          </a:prstGeom>
          <a:noFill/>
          <a:ln w="635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PCA est linéaire — ne capte pas les non-linéarités (vol asymétrique, levier). La contrainte variationnelle z ~ N(0,I) force des transitions lisses entre régimes. Sans VAE convergé, le HMM produit des régimes inversés (rendements Bear &gt; Bull) — constaté empiriquement.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274320" y="492861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VAE-HMM Pipeline  |  Market Regime Detection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0" y="49286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8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1355</Words>
  <Application>Microsoft Office PowerPoint</Application>
  <PresentationFormat>On-screen Show (16:9)</PresentationFormat>
  <Paragraphs>285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Regime Detection — VAE-HMM Pipeline</dc:title>
  <dc:subject>PptxGenJS Presentation</dc:subject>
  <dc:creator>Lead Data Scientist</dc:creator>
  <cp:lastModifiedBy>Gabriel Maisonnave</cp:lastModifiedBy>
  <cp:revision>3</cp:revision>
  <dcterms:created xsi:type="dcterms:W3CDTF">2026-03-29T18:20:17Z</dcterms:created>
  <dcterms:modified xsi:type="dcterms:W3CDTF">2026-03-30T07:53:56Z</dcterms:modified>
</cp:coreProperties>
</file>