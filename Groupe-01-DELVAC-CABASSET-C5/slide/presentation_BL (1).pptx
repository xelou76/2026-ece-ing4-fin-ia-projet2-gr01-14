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70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>
            <a:extLst>
              <a:ext uri="{FF2B5EF4-FFF2-40B4-BE49-F238E27FC236}">
                <a16:creationId xmlns:a16="http://schemas.microsoft.com/office/drawing/2014/main" id="{54D42375-C9A0-4F55-B11F-519A04C35B24}"/>
              </a:ext>
            </a:extLst>
          </p:cNvPr>
          <p:cNvSpPr/>
          <p:nvPr/>
        </p:nvSpPr>
        <p:spPr>
          <a:xfrm>
            <a:off x="1505857" y="326609"/>
            <a:ext cx="6132285" cy="68213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502DF47-8DE4-44B1-B7DB-82492F7811BA}"/>
              </a:ext>
            </a:extLst>
          </p:cNvPr>
          <p:cNvSpPr txBox="1"/>
          <p:nvPr/>
        </p:nvSpPr>
        <p:spPr>
          <a:xfrm>
            <a:off x="1505856" y="398934"/>
            <a:ext cx="61322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effectLst/>
                <a:latin typeface="Mona Sans VF"/>
              </a:rPr>
              <a:t>Optimisation de Portefeuille Bayésien</a:t>
            </a:r>
          </a:p>
        </p:txBody>
      </p:sp>
      <p:pic>
        <p:nvPicPr>
          <p:cNvPr id="1026" name="Picture 2" descr="550+ photos de la finance | Téléchargez des images gratuites sur Unsplash">
            <a:extLst>
              <a:ext uri="{FF2B5EF4-FFF2-40B4-BE49-F238E27FC236}">
                <a16:creationId xmlns:a16="http://schemas.microsoft.com/office/drawing/2014/main" id="{2A54F69A-F88A-4DEC-8D13-6B1175994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932" y="1316061"/>
            <a:ext cx="5694136" cy="345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F026DA4-DE9B-423A-9CB6-D57E69901590}"/>
              </a:ext>
            </a:extLst>
          </p:cNvPr>
          <p:cNvSpPr txBox="1"/>
          <p:nvPr/>
        </p:nvSpPr>
        <p:spPr>
          <a:xfrm>
            <a:off x="6556828" y="4774168"/>
            <a:ext cx="2757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Groupe C5 Cabasset </a:t>
            </a:r>
            <a:r>
              <a:rPr lang="fr-FR" sz="1600" dirty="0" err="1"/>
              <a:t>Delvac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870545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3BB273"/>
          </a:solidFill>
          <a:ln w="12700">
            <a:solidFill>
              <a:srgbClr val="3BB2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— La Frontière Efficace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 qui compte, ce n'est pas le risque individuel de chaque actif, mais comment ils se comportent ensemble.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 diversifiant intelligemment, on obtient le même rendement avec moins de risque.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niveau de rendement visé, il existe une combinaison optimale de poids qui minimise la volatilité : c'est la frontière efficace.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⚠ Limite : repose sur les données historiques, très bruitées → allocations instables.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1143000"/>
            <a:ext cx="3611880" cy="3566160"/>
          </a:xfrm>
          <a:prstGeom prst="rect">
            <a:avLst/>
          </a:prstGeom>
          <a:solidFill>
            <a:srgbClr val="1A1D2E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212080" y="1143000"/>
            <a:ext cx="64008" cy="3566160"/>
          </a:xfrm>
          <a:prstGeom prst="rect">
            <a:avLst/>
          </a:prstGeom>
          <a:solidFill>
            <a:srgbClr val="3BB273"/>
          </a:solidFill>
          <a:ln w="12700">
            <a:solidFill>
              <a:srgbClr val="3BB2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3949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B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clé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169164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efficace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(meilleur risque/rend.)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Portefeuille tangent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(Sharpe max)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Volatilité</a:t>
            </a:r>
            <a:endParaRPr lang="en-US" sz="1200" dirty="0"/>
          </a:p>
        </p:txBody>
      </p:sp>
      <p:sp>
        <p:nvSpPr>
          <p:cNvPr id="10" name="Text 33">
            <a:extLst>
              <a:ext uri="{FF2B5EF4-FFF2-40B4-BE49-F238E27FC236}">
                <a16:creationId xmlns:a16="http://schemas.microsoft.com/office/drawing/2014/main" id="{B5D31C62-C433-4E82-B9D2-B67F23FAE0E9}"/>
              </a:ext>
            </a:extLst>
          </p:cNvPr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 : le modele Black-Litterman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02  Approche bayesienne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240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2402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equilibre 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(CAPM inverse)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3716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127248" y="1097280"/>
            <a:ext cx="2240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27248" y="1097280"/>
            <a:ext cx="22402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72968" y="10972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15544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investisseur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confiance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04688" y="13716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943600" y="1097280"/>
            <a:ext cx="2240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224028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89320" y="10972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15544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mu_BL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8503920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de Black-Litterman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[(tauS)^-1 + Pt O^-1 P]^-1     mu_BL = M x [(tauS)^-1 . Pi  +  Pt O^-1 . Q] 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457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0040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equilibre (prior)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96312" y="4114800"/>
            <a:ext cx="457200" cy="4114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496312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/ Q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99232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/ valeurs des vues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72584" y="4114800"/>
            <a:ext cx="457200" cy="4114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672584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75504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des vues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48856" y="4114800"/>
            <a:ext cx="4572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848856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51776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du prior (~1/nb annees)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Rendements d equilibre (Prior CAPM)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02  Le prior bayesien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029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CAPM inverse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4663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investisseurs sont rationnels et detiennent le portefeuille de marche, les prix actuels revelent implicitement les rendements attendus.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r>
              <a:rPr lang="fr-FR" sz="1100" b="1" dirty="0"/>
              <a:t>Π = δ × Σ × w : </a:t>
            </a:r>
            <a:r>
              <a:rPr lang="fr-FR" sz="1100" i="1" dirty="0"/>
              <a:t>rendements d'équilibre annualisés</a:t>
            </a:r>
            <a:endParaRPr lang="fr-FR" sz="1100" dirty="0"/>
          </a:p>
          <a:p>
            <a:endParaRPr lang="fr-FR" sz="1100" dirty="0"/>
          </a:p>
          <a:p>
            <a:r>
              <a:rPr lang="fr-FR" sz="1100" b="1" dirty="0"/>
              <a:t>δ</a:t>
            </a:r>
            <a:r>
              <a:rPr lang="fr-FR" sz="1100" dirty="0"/>
              <a:t> est l'aversion au risque moyenne du marché</a:t>
            </a:r>
          </a:p>
          <a:p>
            <a:endParaRPr lang="fr-FR" sz="1100" dirty="0"/>
          </a:p>
          <a:p>
            <a:r>
              <a:rPr lang="fr-FR" sz="1100" b="1" dirty="0"/>
              <a:t>Σ</a:t>
            </a:r>
            <a:r>
              <a:rPr lang="fr-FR" sz="1100" dirty="0"/>
              <a:t> est la matrice de covariance annualisé</a:t>
            </a:r>
          </a:p>
          <a:p>
            <a:endParaRPr lang="fr-FR" sz="1100" dirty="0"/>
          </a:p>
          <a:p>
            <a:r>
              <a:rPr lang="fr-FR" sz="1100" b="1" dirty="0"/>
              <a:t>w</a:t>
            </a:r>
            <a:r>
              <a:rPr lang="fr-FR" sz="1100" dirty="0"/>
              <a:t> sont les poids du portefeuille de marché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1051560"/>
            <a:ext cx="3383280" cy="3566160"/>
          </a:xfrm>
          <a:prstGeom prst="rect">
            <a:avLst/>
          </a:prstGeom>
          <a:solidFill>
            <a:srgbClr val="F0FFF8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532120" y="1051560"/>
            <a:ext cx="33832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623560" y="10515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du prior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536192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Ancre dans les prix de marche =&gt; stable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Integre l information de tous les investisseurs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diversifies =&gt; pas d extremes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Reduit l effet garbage 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Le prior seul donne l optimum de marche. On va maintenant l ajuster avec nos opinions.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Vues de l investisseur avec confiances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03  Donnees Yahoo Finance  Periode 2021-2024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827900"/>
              </p:ext>
            </p:extLst>
          </p:nvPr>
        </p:nvGraphicFramePr>
        <p:xfrm>
          <a:off x="320040" y="1051560"/>
          <a:ext cx="7498080" cy="13469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93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Rend. att.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Incertitude O_ii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(vue forte)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 &gt; GOOGL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elevee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20040" y="3127248"/>
            <a:ext cx="4892040" cy="12618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de Omega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51129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O_ii  =  ((1 - ci) / ci)  x  pi Sigma pi^T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87705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</a:t>
            </a:r>
            <a:r>
              <a:rPr lang="en-US" sz="10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0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endParaRPr lang="en-US" sz="1000" i="1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ci =&gt; 0, plus O_ii =&gt; infini, plus la vue est ignore</a:t>
            </a:r>
          </a:p>
        </p:txBody>
      </p:sp>
      <p:sp>
        <p:nvSpPr>
          <p:cNvPr id="12" name="Text 9"/>
          <p:cNvSpPr/>
          <p:nvPr/>
        </p:nvSpPr>
        <p:spPr>
          <a:xfrm>
            <a:off x="5486400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0" y="3529584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526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: Yahoo Finance  8 actifs  2021-2024  ~1 000 jours de trading  Prix ajustes dividendes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Optimisation sous contraintes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04  Monte-Carlo  50 000 simulations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" y="932687"/>
            <a:ext cx="5029200" cy="2296741"/>
          </a:xfrm>
          <a:prstGeom prst="rect">
            <a:avLst/>
          </a:prstGeom>
          <a:solidFill>
            <a:srgbClr val="FFFBF0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maximiser le Ratio de Sharpe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S(w)  =  (wt mu - RF) / sqrt(wt Sigma w)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4663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= 4%  (bons du Tresor US 10 </a:t>
            </a:r>
            <a:r>
              <a:rPr lang="en-US" sz="10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endParaRPr lang="en-US" sz="1000" i="1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r>
              <a:rPr lang="en-US" sz="1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mu : </a:t>
            </a:r>
            <a:r>
              <a:rPr lang="fr-FR" sz="1000" dirty="0">
                <a:solidFill>
                  <a:schemeClr val="tx2"/>
                </a:solidFill>
              </a:rPr>
              <a:t>rendement du portefeuille</a:t>
            </a:r>
          </a:p>
          <a:p>
            <a:endParaRPr lang="fr-FR" sz="1000" dirty="0">
              <a:solidFill>
                <a:schemeClr val="tx2"/>
              </a:solidFill>
            </a:endParaRPr>
          </a:p>
          <a:p>
            <a:r>
              <a:rPr lang="en-US" sz="1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RF: </a:t>
            </a:r>
            <a:r>
              <a:rPr lang="fr-FR" sz="1000" dirty="0">
                <a:solidFill>
                  <a:schemeClr val="tx2"/>
                </a:solidFill>
              </a:rPr>
              <a:t>le taux sans risque</a:t>
            </a:r>
          </a:p>
          <a:p>
            <a:endParaRPr lang="en-US" sz="1000" i="1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sqrt(</a:t>
            </a:r>
            <a:r>
              <a:rPr lang="en-US" sz="10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r>
              <a:rPr lang="en-US" sz="1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Sigma w) : </a:t>
            </a:r>
            <a:r>
              <a:rPr lang="fr-FR" sz="1000" dirty="0">
                <a:solidFill>
                  <a:schemeClr val="tx2"/>
                </a:solidFill>
              </a:rPr>
              <a:t>volatilité du portefeuille</a:t>
            </a:r>
            <a:endParaRPr lang="en-US" sz="1000" i="1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i="1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532120" y="1051560"/>
            <a:ext cx="3383280" cy="1463040"/>
          </a:xfrm>
          <a:prstGeom prst="rect">
            <a:avLst/>
          </a:prstGeom>
          <a:solidFill>
            <a:srgbClr val="F0FFF8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669280" y="1115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508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 &gt;= 0   (long only)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Somme wi = 1  (budget)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Somme secteur &lt;= 40%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72491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27939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 Allocations &amp; Rendements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05  Comparaison Markowitz vs Black-Litterman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243478"/>
              </p:ext>
            </p:extLst>
          </p:nvPr>
        </p:nvGraphicFramePr>
        <p:xfrm>
          <a:off x="320040" y="1051560"/>
          <a:ext cx="4206240" cy="22631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Markowitz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JNJ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51560"/>
            <a:ext cx="3474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806440" y="11155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Metriques de performance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028118"/>
              </p:ext>
            </p:extLst>
          </p:nvPr>
        </p:nvGraphicFramePr>
        <p:xfrm>
          <a:off x="5669280" y="1508760"/>
          <a:ext cx="3474720" cy="7315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Markowitz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669280" y="3273552"/>
            <a:ext cx="3456432" cy="1581912"/>
          </a:xfrm>
          <a:prstGeom prst="rect">
            <a:avLst/>
          </a:prstGeom>
          <a:solidFill>
            <a:srgbClr val="FFFBF0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580644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806440" y="3749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Sharpe 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&gt; Sharpe BL à cause des choix de </a:t>
            </a:r>
            <a:r>
              <a:rPr lang="en-US" sz="1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l’investiseur</a:t>
            </a:r>
            <a:r>
              <a:rPr lang="en-US" sz="1000" dirty="0"/>
              <a:t> </a:t>
            </a:r>
          </a:p>
        </p:txBody>
      </p:sp>
      <p:sp>
        <p:nvSpPr>
          <p:cNvPr id="13" name="Shape 9"/>
          <p:cNvSpPr/>
          <p:nvPr/>
        </p:nvSpPr>
        <p:spPr>
          <a:xfrm>
            <a:off x="320040" y="4434840"/>
            <a:ext cx="521208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411480" y="4462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contraintes sectorielles respectees  Tech 32% &lt;= 40%   Finance 38% &lt;= 40%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6096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 Frontieres efficaces comparees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05  Markowitz vs Black-Litterman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4  Frontiere Markowitz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862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6052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0" y="1051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5 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536192"/>
            <a:ext cx="38862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Comparer les 2 frontieres = visualiser l impact de nos vues probabilistes sur les opportunites d investissement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09560" y="48554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D26AB6E-418D-B634-8D6B-A5D3CFFA1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" y="1711996"/>
            <a:ext cx="3270504" cy="2620191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F2D1B0A0-506B-8647-2B1D-66310BDDC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534" y="1709928"/>
            <a:ext cx="3418332" cy="26140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EFECCC7-BF3C-430D-95C8-FBD426CEEF1E}"/>
              </a:ext>
            </a:extLst>
          </p:cNvPr>
          <p:cNvSpPr txBox="1"/>
          <p:nvPr/>
        </p:nvSpPr>
        <p:spPr>
          <a:xfrm>
            <a:off x="2454561" y="624114"/>
            <a:ext cx="4234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Merci pour votre écoute</a:t>
            </a:r>
          </a:p>
        </p:txBody>
      </p:sp>
      <p:pic>
        <p:nvPicPr>
          <p:cNvPr id="2050" name="Picture 2" descr="Merci Diapositive PPT">
            <a:extLst>
              <a:ext uri="{FF2B5EF4-FFF2-40B4-BE49-F238E27FC236}">
                <a16:creationId xmlns:a16="http://schemas.microsoft.com/office/drawing/2014/main" id="{A74ECAA8-999F-4060-ADFD-16720394A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418" y="1466851"/>
            <a:ext cx="6021161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518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745</Words>
  <Application>Microsoft Office PowerPoint</Application>
  <PresentationFormat>Affichage à l'écran (16:9)</PresentationFormat>
  <Paragraphs>185</Paragraphs>
  <Slides>9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Consolas</vt:lpstr>
      <vt:lpstr>Mona Sans VF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Black-Litterman – Optimisation de Portefeuille Bayésien</dc:title>
  <dc:subject>PptxGenJS Presentation</dc:subject>
  <dc:creator>ECE Paris – Ing4 2026</dc:creator>
  <cp:lastModifiedBy>Pierre-Hugo Cabasset</cp:lastModifiedBy>
  <cp:revision>8</cp:revision>
  <dcterms:created xsi:type="dcterms:W3CDTF">2026-03-28T22:13:31Z</dcterms:created>
  <dcterms:modified xsi:type="dcterms:W3CDTF">2026-03-30T00:46:54Z</dcterms:modified>
</cp:coreProperties>
</file>