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7315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de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Portefeuille Bayésien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320040" y="26060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Black-Litterman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3200400"/>
            <a:ext cx="1097280" cy="2926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2004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C.5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3584448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Difficulte 3/5   Domaine : Probas &amp; ML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3895344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Paris  Ing4  Groupe 01  2026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4187952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Prenom NOM  Prenom NOM  Prenom NOM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0" y="548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Markowitz ne suffit pas 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40480" y="1115568"/>
            <a:ext cx="5029200" cy="676656"/>
          </a:xfrm>
          <a:prstGeom prst="rect">
            <a:avLst/>
          </a:prstGeom>
          <a:solidFill>
            <a:srgbClr val="141B2D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23360" y="1188720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rendements historiques sont instables et trompeurs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1938528"/>
            <a:ext cx="5029200" cy="676656"/>
          </a:xfrm>
          <a:prstGeom prst="rect">
            <a:avLst/>
          </a:prstGeom>
          <a:solidFill>
            <a:srgbClr val="141B2D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23360" y="2011680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 amplifie le bruit  =&gt; portefeuilles extremes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0" y="2761488"/>
            <a:ext cx="5029200" cy="676656"/>
          </a:xfrm>
          <a:prstGeom prst="rect">
            <a:avLst/>
          </a:prstGeom>
          <a:solidFill>
            <a:srgbClr val="141B2D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23360" y="2834640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Black-Litterman integre des vues probabilistes d expert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0" y="3584448"/>
            <a:ext cx="5029200" cy="676656"/>
          </a:xfrm>
          <a:prstGeom prst="rect">
            <a:avLst/>
          </a:prstGeom>
          <a:solidFill>
            <a:srgbClr val="141B2D"/>
          </a:solidFill>
          <a:ln w="12700">
            <a:solidFill>
              <a:srgbClr val="2A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23360" y="3657600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par la majorite des gestionnaires institutionnels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presentation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parties  ~15 minutes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502920" cy="1078992"/>
          </a:xfrm>
          <a:prstGeom prst="rect">
            <a:avLst/>
          </a:prstGeom>
          <a:solidFill>
            <a:srgbClr val="0E7C7B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118872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Motivation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61848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depasser Markowitz 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313432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313432"/>
            <a:ext cx="502920" cy="10789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13432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245059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 Black-Litterman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88036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bayesienne, prior CAPM, vues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575304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575304"/>
            <a:ext cx="502920" cy="10789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75304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3712464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&amp; Vues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14223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Finance, 4 vues avec confiances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051560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051560"/>
            <a:ext cx="502920" cy="10789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51560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40680" y="118872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0680" y="161848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Monte-Carlo sous contraintes sectorielles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313432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2313432"/>
            <a:ext cx="502920" cy="10789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313432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440680" y="245059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&amp; Graphiques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40680" y="288036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Frontieres efficaces, allocations, metriques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575304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3575304"/>
            <a:ext cx="502920" cy="10789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575304"/>
            <a:ext cx="50292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440680" y="3712464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40680" y="414223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Limites, extensions possibles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 : Markowitz est sensible au bruit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Motivation  Partie 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8503920" cy="804672"/>
          </a:xfrm>
          <a:prstGeom prst="rect">
            <a:avLst/>
          </a:prstGeom>
          <a:solidFill>
            <a:srgbClr val="FFF3CD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54864" cy="8046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15568"/>
            <a:ext cx="8138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out  les rendements historiques sont le pire estimateur du futur.   Merton (1980)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011680"/>
            <a:ext cx="269748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29968"/>
            <a:ext cx="2514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514600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petit changement dans les rendements historiques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provoque des allocations radicalement differentes.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201168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2011680"/>
            <a:ext cx="2697480" cy="41148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029968"/>
            <a:ext cx="2514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Portefeuilles extremes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514600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 concentre souvent plus de 70% dans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ou 2 actifs  peu diversifie en pratique.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2011680"/>
            <a:ext cx="2697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2011680"/>
            <a:ext cx="2697480" cy="411480"/>
          </a:xfrm>
          <a:prstGeom prst="rect">
            <a:avLst/>
          </a:prstGeom>
          <a:solidFill>
            <a:srgbClr val="2778B5"/>
          </a:solidFill>
          <a:ln w="12700">
            <a:solidFill>
              <a:srgbClr val="2778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029968"/>
            <a:ext cx="25146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le consensus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514600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modele n utilise pas l information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contenue dans les prix actuels du marche.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4663440"/>
            <a:ext cx="8503920" cy="32918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6908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=&gt;  Black-Litterman : combiner le consensus du marche avec les vues probabilistes de l investisseur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 : le modele Black-Litterman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02  Approche bayesienne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2402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22402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equilibre 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(CAPM inverse)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1371600"/>
            <a:ext cx="365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127248" y="1097280"/>
            <a:ext cx="22402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27248" y="1097280"/>
            <a:ext cx="2240280" cy="38404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2968" y="10972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18688" y="155448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Opinions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investisseur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confiance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04688" y="1371600"/>
            <a:ext cx="365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943600" y="1097280"/>
            <a:ext cx="22402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1097280"/>
            <a:ext cx="2240280" cy="3840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09728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5040" y="155448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Black-Litterman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mu_BL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999232"/>
            <a:ext cx="8503920" cy="960120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de Black-Litterman 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3649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[(tauS)^-1 + Pt O^-1 P]^-1     mu_BL = M x [(tauS)^-1 . Pi  +  Pt O^-1 . Q]     S_BL = S + 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114800"/>
            <a:ext cx="4572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1148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1148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Rendements equilibre (prior)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96312" y="4114800"/>
            <a:ext cx="457200" cy="41148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96312" y="41148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/ Q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99232" y="41148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/ valeurs des vues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72584" y="4114800"/>
            <a:ext cx="457200" cy="41148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72584" y="41148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75504" y="41148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Incertitude des vues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48856" y="4114800"/>
            <a:ext cx="45720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48856" y="41148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51776" y="41148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du prior (~1/nb annees)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Rendements d equilibre (Prior CAPM)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02  Le prior bayesien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5029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4300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CAPM inverse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46634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les investisseurs sont rationnels et detiennent le portefeuille de marche, les prix actuels revelent implicitement les rendements attendus.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 standard  =&gt;  E[r] = RF + beta x (E[rm] - RF)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 inverse   =&gt;  Pi = delta x Sigma x w_mkt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= 2.5  (aversion au risque, valeur standard BL)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w_mkt = poids de marche (ici uniformes - simplification)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32120" y="1051560"/>
            <a:ext cx="3383280" cy="3566160"/>
          </a:xfrm>
          <a:prstGeom prst="rect">
            <a:avLst/>
          </a:prstGeom>
          <a:solidFill>
            <a:srgbClr val="F0FFF8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32120" y="1051560"/>
            <a:ext cx="3383280" cy="38404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10515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 du prior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1536192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Ancre dans les prix de marche =&gt; stable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Integre l information de tous les investisseurs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Rendements diversifies =&gt; pas d extremes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Reduit l effet garbage 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Le prior seul donne l optimum de marche. On va maintenant l ajuster avec nos opinions.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Vues de l investisseur avec confiances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03  Donnees Yahoo Finance  Periode 2021-2024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850392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005840"/>
                <a:gridCol w="1645920"/>
                <a:gridCol w="1645920"/>
                <a:gridCol w="1005840"/>
                <a:gridCol w="2514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Rend. att.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Incertitude O_ii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Faible (vue forte)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JPM &gt; GOOGL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 elevee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127248"/>
            <a:ext cx="4892040" cy="1261872"/>
          </a:xfrm>
          <a:prstGeom prst="rect">
            <a:avLst/>
          </a:prstGeom>
          <a:solidFill>
            <a:srgbClr val="F0F4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320040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de Omega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3511296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O_ii  =  ((1 - ci) / ci)  x  pi Sigma pi^T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3877056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ci =&gt; 0, plus O_ii =&gt; infini, plus la vue est ignoree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49240" y="3127248"/>
            <a:ext cx="3474720" cy="1261872"/>
          </a:xfrm>
          <a:prstGeom prst="rect">
            <a:avLst/>
          </a:prstGeom>
          <a:solidFill>
            <a:srgbClr val="FFF8F0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86400" y="32004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vues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0" y="3529584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Absolue  =&gt; P[i,k] = 1  (1 actif)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Relative =&gt; P[i,A]=+1, P[i,B]=-1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5262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: Yahoo Finance  8 actifs  2021-2024  ~1 000 jours de trading  Prix ajustes dividendes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Optimisation sous contraintes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04  Monte-Carlo  60 000 simulations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5029200" cy="1463040"/>
          </a:xfrm>
          <a:prstGeom prst="rect">
            <a:avLst/>
          </a:prstGeom>
          <a:solidFill>
            <a:srgbClr val="FFFBF0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155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maximiser le Ratio de Sharpe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S(w)  =  (wt mu - RF) / sqrt(wt Sigma w)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= 4%  (bons du Tresor US 10 ans)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32120" y="1051560"/>
            <a:ext cx="3383280" cy="1463040"/>
          </a:xfrm>
          <a:prstGeom prst="rect">
            <a:avLst/>
          </a:prstGeom>
          <a:solidFill>
            <a:srgbClr val="F0FFF8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0" y="11155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15087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 &gt;= 0   (long only)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Somme wi = 1  (budget)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Somme secteur &lt;= 40%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651760"/>
            <a:ext cx="85039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72491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Methode Monte-Carlo (choix pedagogique)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108960"/>
            <a:ext cx="8138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Tirer w ~ Dirichlet(1,...,1)  =&gt;  garantit wi&gt;=0 et Somme(wi)=1 automatiquement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Verifier contrainte sectorielle  =&gt;  si violation, rejeter et recommencer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Calculer Sharpe(w)  =&gt;  garder le meilleur sur 60 000 tirages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427939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production =&gt; scipy.optimize (SLSQP) ou cvxpy (programmation quadratique exacte) pour la solution analytique.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778B5"/>
          </a:solidFill>
          <a:ln w="12700">
            <a:solidFill>
              <a:srgbClr val="2778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 Allocations &amp; Rendements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05  Comparaison Markowitz vs Black-Litterman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52120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118872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Secteur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Markowitz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78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BL+Conf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E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+6%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AMZN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+26%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JNJ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+14%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051560"/>
            <a:ext cx="3200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06440" y="11155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Metriques de performance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508760"/>
          <a:ext cx="3200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822960"/>
                <a:gridCol w="640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Markowitz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BL+Conf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669280" y="3310128"/>
            <a:ext cx="3200400" cy="1581912"/>
          </a:xfrm>
          <a:prstGeom prst="rect">
            <a:avLst/>
          </a:prstGeom>
          <a:solidFill>
            <a:srgbClr val="FFFBF0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806440" y="33832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806440" y="37490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 est plus conservateur : le prior CAPM tire les rendements vers l equilibre, reduisant les allocations extremes de Markowitz.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0040" y="4434840"/>
            <a:ext cx="521208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11480" y="44622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contraintes sectorielles respectees  Tech 32% &lt;= 40%   Finance 38% &lt;= 40%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  Frontieres efficaces comparees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05  Markowitz vs Black-Litterman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4160520" cy="384048"/>
          </a:xfrm>
          <a:prstGeom prst="rect">
            <a:avLst/>
          </a:prstGeom>
          <a:solidFill>
            <a:srgbClr val="2778B5"/>
          </a:solidFill>
          <a:ln w="12700">
            <a:solidFill>
              <a:srgbClr val="277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4  Frontiere Markowitz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388620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Basee sur les rendements historiques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Nuage de 10 000 portefeuilles aleatoires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Colories par ratio de Sharpe (plasma)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Etoile = portefeuille tangent (max Sharpe)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frontiere efficace est la borne superieure gauche du nuage : meilleur rendement pour moins de risque.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51560"/>
            <a:ext cx="4160520" cy="38404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5156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5  Frontiere BL+Conf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536192"/>
            <a:ext cx="388620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Basee sur les rendements posteriori mu_BL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Meme methode, mu different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Les vues deplacent la frontiere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Etoile = nouvel optimum BL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differences visuelles entre les 2 frontieres montrent directement l impact de nos 4 vues sur la geometrie risque/rendement.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 Comparer les 2 frontieres = visualiser l impact de nos vues probabilistes sur les opportunites d investissement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 ensemble  Les 6 graphiques produits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05  Livrables visuels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530352" cy="17190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97280"/>
            <a:ext cx="530352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1832" y="1280160"/>
            <a:ext cx="2029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Rendements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-&gt; Posteriori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41832" y="2011680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/ Equilibre / BL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109728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1097280"/>
            <a:ext cx="530352" cy="1719072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1097280"/>
            <a:ext cx="530352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9624" y="1280160"/>
            <a:ext cx="2029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&amp;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849624" y="2011680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Barres horizontales colorees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35624" y="109728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35624" y="1097280"/>
            <a:ext cx="530352" cy="1719072"/>
          </a:xfrm>
          <a:prstGeom prst="rect">
            <a:avLst/>
          </a:prstGeom>
          <a:solidFill>
            <a:srgbClr val="2778B5"/>
          </a:solidFill>
          <a:ln w="12700">
            <a:solidFill>
              <a:srgbClr val="2778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35624" y="1097280"/>
            <a:ext cx="530352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57416" y="1280160"/>
            <a:ext cx="2029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757416" y="2011680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 vs BL cote a cote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97180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971800"/>
            <a:ext cx="530352" cy="1719072"/>
          </a:xfrm>
          <a:prstGeom prst="rect">
            <a:avLst/>
          </a:prstGeom>
          <a:solidFill>
            <a:srgbClr val="2778B5"/>
          </a:solidFill>
          <a:ln w="12700">
            <a:solidFill>
              <a:srgbClr val="2778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971800"/>
            <a:ext cx="530352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1832" y="3154680"/>
            <a:ext cx="2029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41832" y="3886200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Nuage + point optimal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27832" y="297180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27832" y="2971800"/>
            <a:ext cx="530352" cy="1719072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27832" y="2971800"/>
            <a:ext cx="530352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849624" y="3154680"/>
            <a:ext cx="2029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BL+Conf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849624" y="3886200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des vues sur la frontiere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35624" y="2971800"/>
            <a:ext cx="274320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35624" y="2971800"/>
            <a:ext cx="530352" cy="17190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35624" y="2971800"/>
            <a:ext cx="530352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57416" y="3154680"/>
            <a:ext cx="20299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757416" y="3886200"/>
            <a:ext cx="20299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metriques + allocations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graphiques sont sauvegardes en PNG 150 dpi dans results/ a l execution de bl_niveau_bon.py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2A"/>
          </a:solidFill>
          <a:ln w="12700">
            <a:solidFill>
              <a:srgbClr val="E07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3268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Perspectives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06  Vers le niveau Excellent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41605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actuelles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Poids uniformes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vraies capitalisations donneraient un prior plus realiste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5915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Monte-Carlo approche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exacte = programmation quadratique convexe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18211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Vues statiques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Definies manuellement, pas mises a jour dynamiquement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00507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Pas de couts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pratique : commissions + slippage de reequilibrage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160520" cy="3749040"/>
          </a:xfrm>
          <a:prstGeom prst="rect">
            <a:avLst/>
          </a:prstGeom>
          <a:solidFill>
            <a:srgbClr val="F0FFF8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51560"/>
            <a:ext cx="4160520" cy="384048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5156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 (Niveau Excellent)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53619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 Vues ML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8288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momentum / sentiment des news =&gt; vues automatiques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35915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 Backtesting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65176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avec reequilibrage trimestriel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18211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 Vraies capit.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4747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Bloomberg / Refinitiv pour les poids reels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4005072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 Optimisation exacte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42976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cvxpy + OSQP =&gt; solution analytique garantie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1480" cy="685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411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005840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BL implemente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298448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CAPM + vues bayesiennes + posterior analytique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1856232"/>
            <a:ext cx="411480" cy="685800"/>
          </a:xfrm>
          <a:prstGeom prst="rect">
            <a:avLst/>
          </a:prstGeom>
          <a:solidFill>
            <a:srgbClr val="2D9E6B"/>
          </a:solidFill>
          <a:ln w="12700">
            <a:solidFill>
              <a:srgbClr val="2D9E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56232"/>
            <a:ext cx="411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901952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avec confiances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194560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Omega calibree par niveau de confiance  4 vues testees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752344"/>
            <a:ext cx="411480" cy="6858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52344"/>
            <a:ext cx="411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798064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contrainte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090672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Monte-Carlo 60k  long-only  budget  secteur &lt;=40%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648456"/>
            <a:ext cx="411480" cy="685800"/>
          </a:xfrm>
          <a:prstGeom prst="rect">
            <a:avLst/>
          </a:prstGeom>
          <a:solidFill>
            <a:srgbClr val="2778B5"/>
          </a:solidFill>
          <a:ln w="12700">
            <a:solidFill>
              <a:srgbClr val="2778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48456"/>
            <a:ext cx="411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694176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Frontieres efficaces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986784"/>
            <a:ext cx="7818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de l impact des vues sur la geometrie risque/rendement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617720"/>
            <a:ext cx="850392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63600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Black-Litterman reconcilie la theorie et la pratique  la gestion quantitative devient opiniatre, pas aveugle.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Black-Litterman – Optimisation de Portefeuille Bayésien</dc:title>
  <dc:subject>PptxGenJS Presentation</dc:subject>
  <dc:creator>ECE Paris – Ing4 2026</dc:creator>
  <cp:lastModifiedBy>ECE Paris – Ing4 2026</cp:lastModifiedBy>
  <cp:revision>1</cp:revision>
  <dcterms:created xsi:type="dcterms:W3CDTF">2026-03-28T22:13:31Z</dcterms:created>
  <dcterms:modified xsi:type="dcterms:W3CDTF">2026-03-28T22:13:31Z</dcterms:modified>
</cp:coreProperties>
</file>